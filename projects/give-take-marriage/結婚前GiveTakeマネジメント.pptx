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47"/>
        </a:solidFill>
      </p:bgPr>
    </p:bg>
    <p:spTree>
      <p:nvGrpSpPr>
        <p:cNvPr id="1" name=""/>
        <p:cNvGrpSpPr/>
        <p:nvPr/>
      </p:nvGrpSpPr>
      <p:grpSpPr>
        <a:xfrm>
          <a:off x="0" y="0"/>
          <a:ext cx="0" cy="0"/>
          <a:chOff x="0" y="0"/>
          <a:chExt cx="0" cy="0"/>
        </a:xfrm>
      </p:grpSpPr>
      <p:sp>
        <p:nvSpPr>
          <p:cNvPr id="2" name="Shape 0"/>
          <p:cNvSpPr/>
          <p:nvPr/>
        </p:nvSpPr>
        <p:spPr>
          <a:xfrm>
            <a:off x="457200" y="457200"/>
            <a:ext cx="548640" cy="27432"/>
          </a:xfrm>
          <a:prstGeom prst="rect">
            <a:avLst/>
          </a:prstGeom>
          <a:solidFill>
            <a:srgbClr val="CADCFC"/>
          </a:solidFill>
          <a:ln/>
        </p:spPr>
      </p:sp>
      <p:sp>
        <p:nvSpPr>
          <p:cNvPr id="3" name="Shape 1"/>
          <p:cNvSpPr/>
          <p:nvPr/>
        </p:nvSpPr>
        <p:spPr>
          <a:xfrm>
            <a:off x="457200" y="4663440"/>
            <a:ext cx="548640" cy="27432"/>
          </a:xfrm>
          <a:prstGeom prst="rect">
            <a:avLst/>
          </a:prstGeom>
          <a:solidFill>
            <a:srgbClr val="CADCFC"/>
          </a:solidFill>
          <a:ln/>
        </p:spPr>
      </p:sp>
      <p:sp>
        <p:nvSpPr>
          <p:cNvPr id="4" name="Text 2"/>
          <p:cNvSpPr/>
          <p:nvPr/>
        </p:nvSpPr>
        <p:spPr>
          <a:xfrm>
            <a:off x="457200" y="640080"/>
            <a:ext cx="5486400" cy="320040"/>
          </a:xfrm>
          <a:prstGeom prst="rect">
            <a:avLst/>
          </a:prstGeom>
          <a:noFill/>
          <a:ln/>
        </p:spPr>
        <p:txBody>
          <a:bodyPr wrap="square" lIns="0" tIns="0" rIns="0" bIns="0" rtlCol="0" anchor="ctr"/>
          <a:lstStyle/>
          <a:p>
            <a:pPr indent="0" marL="0">
              <a:buNone/>
            </a:pPr>
            <a:r>
              <a:rPr lang="en-US" sz="1100" spc="600" kern="0" dirty="0">
                <a:solidFill>
                  <a:srgbClr val="CADCFC"/>
                </a:solidFill>
                <a:latin typeface="Yu Gothic" pitchFamily="34" charset="0"/>
                <a:ea typeface="Yu Gothic" pitchFamily="34" charset="-122"/>
                <a:cs typeface="Yu Gothic" pitchFamily="34" charset="-120"/>
              </a:rPr>
              <a:t>FOR MALE EXECUTIVES</a:t>
            </a:r>
            <a:endParaRPr lang="en-US" sz="1100" dirty="0"/>
          </a:p>
        </p:txBody>
      </p:sp>
      <p:sp>
        <p:nvSpPr>
          <p:cNvPr id="5" name="Text 3"/>
          <p:cNvSpPr/>
          <p:nvPr/>
        </p:nvSpPr>
        <p:spPr>
          <a:xfrm>
            <a:off x="457200" y="1280160"/>
            <a:ext cx="8229600" cy="594360"/>
          </a:xfrm>
          <a:prstGeom prst="rect">
            <a:avLst/>
          </a:prstGeom>
          <a:noFill/>
          <a:ln/>
        </p:spPr>
        <p:txBody>
          <a:bodyPr wrap="square" lIns="0" tIns="0" rIns="0" bIns="0" rtlCol="0" anchor="ctr"/>
          <a:lstStyle/>
          <a:p>
            <a:pPr indent="0" marL="0">
              <a:buNone/>
            </a:pPr>
            <a:r>
              <a:rPr lang="en-US" sz="2600" spc="400" kern="0" dirty="0">
                <a:solidFill>
                  <a:srgbClr val="CADCFC"/>
                </a:solidFill>
                <a:latin typeface="Yu Gothic" pitchFamily="34" charset="0"/>
                <a:ea typeface="Yu Gothic" pitchFamily="34" charset="-122"/>
                <a:cs typeface="Yu Gothic" pitchFamily="34" charset="-120"/>
              </a:rPr>
              <a:t>結婚前</a:t>
            </a:r>
            <a:endParaRPr lang="en-US" sz="2600" dirty="0"/>
          </a:p>
        </p:txBody>
      </p:sp>
      <p:sp>
        <p:nvSpPr>
          <p:cNvPr id="6" name="Text 4"/>
          <p:cNvSpPr/>
          <p:nvPr/>
        </p:nvSpPr>
        <p:spPr>
          <a:xfrm>
            <a:off x="457200" y="1874520"/>
            <a:ext cx="8229600" cy="1051560"/>
          </a:xfrm>
          <a:prstGeom prst="rect">
            <a:avLst/>
          </a:prstGeom>
          <a:noFill/>
          <a:ln/>
        </p:spPr>
        <p:txBody>
          <a:bodyPr wrap="square" lIns="0" tIns="0" rIns="0" bIns="0" rtlCol="0" anchor="ctr"/>
          <a:lstStyle/>
          <a:p>
            <a:pPr indent="0" marL="0">
              <a:buNone/>
            </a:pPr>
            <a:r>
              <a:rPr lang="en-US" sz="4400" b="1" spc="200" kern="0" dirty="0">
                <a:solidFill>
                  <a:srgbClr val="FFFFFF"/>
                </a:solidFill>
                <a:latin typeface="Yu Gothic" pitchFamily="34" charset="0"/>
                <a:ea typeface="Yu Gothic" pitchFamily="34" charset="-122"/>
                <a:cs typeface="Yu Gothic" pitchFamily="34" charset="-120"/>
              </a:rPr>
              <a:t>Give&amp;Take マネジメント</a:t>
            </a:r>
            <a:endParaRPr lang="en-US" sz="4400" dirty="0"/>
          </a:p>
        </p:txBody>
      </p:sp>
      <p:sp>
        <p:nvSpPr>
          <p:cNvPr id="7" name="Shape 5"/>
          <p:cNvSpPr/>
          <p:nvPr/>
        </p:nvSpPr>
        <p:spPr>
          <a:xfrm>
            <a:off x="457200" y="3108960"/>
            <a:ext cx="457200" cy="36576"/>
          </a:xfrm>
          <a:prstGeom prst="rect">
            <a:avLst/>
          </a:prstGeom>
          <a:solidFill>
            <a:srgbClr val="CADCFC"/>
          </a:solidFill>
          <a:ln/>
        </p:spPr>
      </p:sp>
      <p:sp>
        <p:nvSpPr>
          <p:cNvPr id="8" name="Text 6"/>
          <p:cNvSpPr/>
          <p:nvPr/>
        </p:nvSpPr>
        <p:spPr>
          <a:xfrm>
            <a:off x="457200" y="3291840"/>
            <a:ext cx="8229600" cy="457200"/>
          </a:xfrm>
          <a:prstGeom prst="rect">
            <a:avLst/>
          </a:prstGeom>
          <a:noFill/>
          <a:ln/>
        </p:spPr>
        <p:txBody>
          <a:bodyPr wrap="square" lIns="0" tIns="0" rIns="0" bIns="0" rtlCol="0" anchor="ctr"/>
          <a:lstStyle/>
          <a:p>
            <a:pPr indent="0" marL="0">
              <a:buNone/>
            </a:pPr>
            <a:r>
              <a:rPr lang="en-US" sz="1800" spc="200" kern="0" dirty="0">
                <a:solidFill>
                  <a:srgbClr val="FFFFFF"/>
                </a:solidFill>
                <a:latin typeface="Yu Gothic" pitchFamily="34" charset="0"/>
                <a:ea typeface="Yu Gothic" pitchFamily="34" charset="-122"/>
                <a:cs typeface="Yu Gothic" pitchFamily="34" charset="-120"/>
              </a:rPr>
              <a:t>経営者男性のための、関係性設計コンサル</a:t>
            </a:r>
            <a:endParaRPr lang="en-US" sz="1800" dirty="0"/>
          </a:p>
        </p:txBody>
      </p:sp>
      <p:sp>
        <p:nvSpPr>
          <p:cNvPr id="9" name="Text 7"/>
          <p:cNvSpPr/>
          <p:nvPr/>
        </p:nvSpPr>
        <p:spPr>
          <a:xfrm>
            <a:off x="457200" y="3840480"/>
            <a:ext cx="8229600" cy="365760"/>
          </a:xfrm>
          <a:prstGeom prst="rect">
            <a:avLst/>
          </a:prstGeom>
          <a:noFill/>
          <a:ln/>
        </p:spPr>
        <p:txBody>
          <a:bodyPr wrap="square" lIns="0" tIns="0" rIns="0" bIns="0" rtlCol="0" anchor="ctr"/>
          <a:lstStyle/>
          <a:p>
            <a:pPr indent="0" marL="0">
              <a:buNone/>
            </a:pPr>
            <a:r>
              <a:rPr lang="en-US" sz="1100" i="1" spc="300" kern="0" dirty="0">
                <a:solidFill>
                  <a:srgbClr val="CADCFC"/>
                </a:solidFill>
                <a:latin typeface="Yu Gothic" pitchFamily="34" charset="0"/>
                <a:ea typeface="Yu Gothic" pitchFamily="34" charset="-122"/>
                <a:cs typeface="Yu Gothic" pitchFamily="34" charset="-120"/>
              </a:rPr>
              <a:t>Pre-Marriage Relationship Design Consulting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64008" cy="457200"/>
          </a:xfrm>
          <a:prstGeom prst="rect">
            <a:avLst/>
          </a:prstGeom>
          <a:solidFill>
            <a:srgbClr val="1E2761"/>
          </a:solidFill>
          <a:ln/>
        </p:spPr>
      </p:sp>
      <p:sp>
        <p:nvSpPr>
          <p:cNvPr id="3" name="Text 1"/>
          <p:cNvSpPr/>
          <p:nvPr/>
        </p:nvSpPr>
        <p:spPr>
          <a:xfrm>
            <a:off x="640080" y="411480"/>
            <a:ext cx="8046720" cy="502920"/>
          </a:xfrm>
          <a:prstGeom prst="rect">
            <a:avLst/>
          </a:prstGeom>
          <a:noFill/>
          <a:ln/>
        </p:spPr>
        <p:txBody>
          <a:bodyPr wrap="square" lIns="0" tIns="0" rIns="0" bIns="0" rtlCol="0" anchor="ctr"/>
          <a:lstStyle/>
          <a:p>
            <a:pPr indent="0" marL="0">
              <a:buNone/>
            </a:pPr>
            <a:r>
              <a:rPr lang="en-US" sz="2600" b="1" dirty="0">
                <a:solidFill>
                  <a:srgbClr val="1F2937"/>
                </a:solidFill>
                <a:latin typeface="Yu Gothic" pitchFamily="34" charset="0"/>
                <a:ea typeface="Yu Gothic" pitchFamily="34" charset="-122"/>
                <a:cs typeface="Yu Gothic" pitchFamily="34" charset="-120"/>
              </a:rPr>
              <a:t>コンセプト</a:t>
            </a:r>
            <a:endParaRPr lang="en-US" sz="2600" dirty="0"/>
          </a:p>
        </p:txBody>
      </p:sp>
      <p:sp>
        <p:nvSpPr>
          <p:cNvPr id="4" name="Text 2"/>
          <p:cNvSpPr/>
          <p:nvPr/>
        </p:nvSpPr>
        <p:spPr>
          <a:xfrm>
            <a:off x="640080" y="914400"/>
            <a:ext cx="8046720" cy="320040"/>
          </a:xfrm>
          <a:prstGeom prst="rect">
            <a:avLst/>
          </a:prstGeom>
          <a:noFill/>
          <a:ln/>
        </p:spPr>
        <p:txBody>
          <a:bodyPr wrap="square" lIns="0" tIns="0" rIns="0" bIns="0" rtlCol="0" anchor="ctr"/>
          <a:lstStyle/>
          <a:p>
            <a:pPr indent="0" marL="0">
              <a:buNone/>
            </a:pPr>
            <a:r>
              <a:rPr lang="en-US" sz="1200" spc="200" kern="0" dirty="0">
                <a:solidFill>
                  <a:srgbClr val="6B7280"/>
                </a:solidFill>
                <a:latin typeface="Yu Gothic" pitchFamily="34" charset="0"/>
                <a:ea typeface="Yu Gothic" pitchFamily="34" charset="-122"/>
                <a:cs typeface="Yu Gothic" pitchFamily="34" charset="-120"/>
              </a:rPr>
              <a:t>CONCEPT</a:t>
            </a:r>
            <a:endParaRPr lang="en-US" sz="1200" dirty="0"/>
          </a:p>
        </p:txBody>
      </p:sp>
      <p:sp>
        <p:nvSpPr>
          <p:cNvPr id="5" name="Shape 3"/>
          <p:cNvSpPr/>
          <p:nvPr/>
        </p:nvSpPr>
        <p:spPr>
          <a:xfrm>
            <a:off x="457200" y="1554480"/>
            <a:ext cx="64008" cy="1280160"/>
          </a:xfrm>
          <a:prstGeom prst="rect">
            <a:avLst/>
          </a:prstGeom>
          <a:solidFill>
            <a:srgbClr val="1E2761"/>
          </a:solidFill>
          <a:ln/>
        </p:spPr>
      </p:sp>
      <p:sp>
        <p:nvSpPr>
          <p:cNvPr id="6" name="Text 4"/>
          <p:cNvSpPr/>
          <p:nvPr/>
        </p:nvSpPr>
        <p:spPr>
          <a:xfrm>
            <a:off x="731520" y="1554480"/>
            <a:ext cx="7955280" cy="1280160"/>
          </a:xfrm>
          <a:prstGeom prst="rect">
            <a:avLst/>
          </a:prstGeom>
          <a:noFill/>
          <a:ln/>
        </p:spPr>
        <p:txBody>
          <a:bodyPr wrap="square" lIns="0" tIns="0" rIns="0" bIns="0" rtlCol="0" anchor="ctr"/>
          <a:lstStyle/>
          <a:p>
            <a:pPr indent="0" marL="0">
              <a:spcAft>
                <a:spcPts val="600"/>
              </a:spcAft>
              <a:buNone/>
            </a:pPr>
            <a:r>
              <a:rPr lang="en-US" sz="2200" b="1" dirty="0">
                <a:solidFill>
                  <a:srgbClr val="1F2937"/>
                </a:solidFill>
                <a:latin typeface="Yu Gothic" pitchFamily="34" charset="0"/>
                <a:ea typeface="Yu Gothic" pitchFamily="34" charset="-122"/>
                <a:cs typeface="Yu Gothic" pitchFamily="34" charset="-120"/>
              </a:rPr>
              <a:t>結婚前に整えるべきなのは、</a:t>
            </a:r>
            <a:endParaRPr lang="en-US" sz="2200" dirty="0"/>
          </a:p>
          <a:p>
            <a:pPr indent="0" marL="0">
              <a:spcAft>
                <a:spcPts val="600"/>
              </a:spcAft>
              <a:buNone/>
            </a:pPr>
            <a:r>
              <a:rPr lang="en-US" sz="2200" b="1" dirty="0">
                <a:solidFill>
                  <a:srgbClr val="1F2937"/>
                </a:solidFill>
                <a:latin typeface="Yu Gothic" pitchFamily="34" charset="0"/>
                <a:ea typeface="Yu Gothic" pitchFamily="34" charset="-122"/>
                <a:cs typeface="Yu Gothic" pitchFamily="34" charset="-120"/>
              </a:rPr>
              <a:t>条件だけではなく、ふたりの未来と関係性です。</a:t>
            </a:r>
            <a:endParaRPr lang="en-US" sz="2200" dirty="0"/>
          </a:p>
        </p:txBody>
      </p:sp>
      <p:sp>
        <p:nvSpPr>
          <p:cNvPr id="7" name="Text 5"/>
          <p:cNvSpPr/>
          <p:nvPr/>
        </p:nvSpPr>
        <p:spPr>
          <a:xfrm>
            <a:off x="731520" y="3017520"/>
            <a:ext cx="7955280" cy="1463040"/>
          </a:xfrm>
          <a:prstGeom prst="rect">
            <a:avLst/>
          </a:prstGeom>
          <a:noFill/>
          <a:ln/>
        </p:spPr>
        <p:txBody>
          <a:bodyPr wrap="square" lIns="0" tIns="0" rIns="0" bIns="0" rtlCol="0" anchor="ctr"/>
          <a:lstStyle/>
          <a:p>
            <a:pPr indent="0" marL="0">
              <a:spcAft>
                <a:spcPts val="300"/>
              </a:spcAft>
              <a:buNone/>
            </a:pPr>
            <a:r>
              <a:rPr lang="en-US" sz="1300" dirty="0">
                <a:solidFill>
                  <a:srgbClr val="374151"/>
                </a:solidFill>
                <a:latin typeface="Yu Gothic" pitchFamily="34" charset="0"/>
                <a:ea typeface="Yu Gothic" pitchFamily="34" charset="-122"/>
                <a:cs typeface="Yu Gothic" pitchFamily="34" charset="-120"/>
              </a:rPr>
              <a:t>経営者男性は、仕事ではロジックで物事を考えます。</a:t>
            </a:r>
            <a:endParaRPr lang="en-US" sz="1300" dirty="0"/>
          </a:p>
          <a:p>
            <a:pPr indent="0" marL="0">
              <a:spcAft>
                <a:spcPts val="300"/>
              </a:spcAft>
              <a:buNone/>
            </a:pPr>
            <a:r>
              <a:rPr lang="en-US" sz="1300" dirty="0">
                <a:solidFill>
                  <a:srgbClr val="374151"/>
                </a:solidFill>
                <a:latin typeface="Yu Gothic" pitchFamily="34" charset="0"/>
                <a:ea typeface="Yu Gothic" pitchFamily="34" charset="-122"/>
                <a:cs typeface="Yu Gothic" pitchFamily="34" charset="-120"/>
              </a:rPr>
              <a:t>目的を決め、未来を描き、相手の求めるものを考え、問題が起きる前に先回りする。</a:t>
            </a:r>
            <a:endParaRPr lang="en-US" sz="1300" dirty="0"/>
          </a:p>
          <a:p>
            <a:pPr indent="0" marL="0">
              <a:spcAft>
                <a:spcPts val="300"/>
              </a:spcAft>
              <a:buNone/>
            </a:pPr>
            <a:endParaRPr lang="en-US" sz="1300" dirty="0"/>
          </a:p>
          <a:p>
            <a:pPr indent="0" marL="0">
              <a:spcAft>
                <a:spcPts val="300"/>
              </a:spcAft>
              <a:buNone/>
            </a:pPr>
            <a:r>
              <a:rPr lang="en-US" sz="1300" dirty="0">
                <a:solidFill>
                  <a:srgbClr val="374151"/>
                </a:solidFill>
                <a:latin typeface="Yu Gothic" pitchFamily="34" charset="0"/>
                <a:ea typeface="Yu Gothic" pitchFamily="34" charset="-122"/>
                <a:cs typeface="Yu Gothic" pitchFamily="34" charset="-120"/>
              </a:rPr>
              <a:t>しかし家庭やパートナーとの関係になると、近い存在だからこそ感情が強く出やすくなる。</a:t>
            </a:r>
            <a:endParaRPr lang="en-US" sz="1300" dirty="0"/>
          </a:p>
          <a:p>
            <a:pPr indent="0" marL="0">
              <a:spcAft>
                <a:spcPts val="300"/>
              </a:spcAft>
              <a:buNone/>
            </a:pPr>
            <a:r>
              <a:rPr lang="en-US" sz="1300" dirty="0">
                <a:solidFill>
                  <a:srgbClr val="374151"/>
                </a:solidFill>
                <a:latin typeface="Yu Gothic" pitchFamily="34" charset="0"/>
                <a:ea typeface="Yu Gothic" pitchFamily="34" charset="-122"/>
                <a:cs typeface="Yu Gothic" pitchFamily="34" charset="-120"/>
              </a:rPr>
              <a:t>外ではロジックで信頼を築けるのに、家では感情に気づけず、信頼を削ってしまう。</a:t>
            </a:r>
            <a:endParaRPr lang="en-US" sz="1300" dirty="0"/>
          </a:p>
        </p:txBody>
      </p:sp>
      <p:sp>
        <p:nvSpPr>
          <p:cNvPr id="8" name="Text 6"/>
          <p:cNvSpPr/>
          <p:nvPr/>
        </p:nvSpPr>
        <p:spPr>
          <a:xfrm>
            <a:off x="457200" y="4800600"/>
            <a:ext cx="4572000" cy="274320"/>
          </a:xfrm>
          <a:prstGeom prst="rect">
            <a:avLst/>
          </a:prstGeom>
          <a:noFill/>
          <a:ln/>
        </p:spPr>
        <p:txBody>
          <a:bodyPr wrap="square" lIns="0" tIns="0" rIns="0" bIns="0" rtlCol="0" anchor="ctr"/>
          <a:lstStyle/>
          <a:p>
            <a:pPr algn="l" indent="0" marL="0">
              <a:buNone/>
            </a:pPr>
            <a:r>
              <a:rPr lang="en-US" sz="900" spc="200" kern="0" dirty="0">
                <a:solidFill>
                  <a:srgbClr val="6B7280"/>
                </a:solidFill>
                <a:latin typeface="Yu Gothic" pitchFamily="34" charset="0"/>
                <a:ea typeface="Yu Gothic" pitchFamily="34" charset="-122"/>
                <a:cs typeface="Yu Gothic" pitchFamily="34" charset="-120"/>
              </a:rPr>
              <a:t>結婚前 Give&amp;Take マネジメント</a:t>
            </a:r>
            <a:endParaRPr lang="en-US" sz="900" dirty="0"/>
          </a:p>
        </p:txBody>
      </p:sp>
      <p:sp>
        <p:nvSpPr>
          <p:cNvPr id="9" name="Text 7"/>
          <p:cNvSpPr/>
          <p:nvPr/>
        </p:nvSpPr>
        <p:spPr>
          <a:xfrm>
            <a:off x="7955280" y="4800600"/>
            <a:ext cx="1005840" cy="274320"/>
          </a:xfrm>
          <a:prstGeom prst="rect">
            <a:avLst/>
          </a:prstGeom>
          <a:noFill/>
          <a:ln/>
        </p:spPr>
        <p:txBody>
          <a:bodyPr wrap="square" lIns="0" tIns="0" rIns="0" bIns="0"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02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64008" cy="457200"/>
          </a:xfrm>
          <a:prstGeom prst="rect">
            <a:avLst/>
          </a:prstGeom>
          <a:solidFill>
            <a:srgbClr val="1E2761"/>
          </a:solidFill>
          <a:ln/>
        </p:spPr>
      </p:sp>
      <p:sp>
        <p:nvSpPr>
          <p:cNvPr id="3" name="Text 1"/>
          <p:cNvSpPr/>
          <p:nvPr/>
        </p:nvSpPr>
        <p:spPr>
          <a:xfrm>
            <a:off x="640080" y="411480"/>
            <a:ext cx="8046720" cy="502920"/>
          </a:xfrm>
          <a:prstGeom prst="rect">
            <a:avLst/>
          </a:prstGeom>
          <a:noFill/>
          <a:ln/>
        </p:spPr>
        <p:txBody>
          <a:bodyPr wrap="square" lIns="0" tIns="0" rIns="0" bIns="0" rtlCol="0" anchor="ctr"/>
          <a:lstStyle/>
          <a:p>
            <a:pPr indent="0" marL="0">
              <a:buNone/>
            </a:pPr>
            <a:r>
              <a:rPr lang="en-US" sz="2600" b="1" dirty="0">
                <a:solidFill>
                  <a:srgbClr val="1F2937"/>
                </a:solidFill>
                <a:latin typeface="Yu Gothic" pitchFamily="34" charset="0"/>
                <a:ea typeface="Yu Gothic" pitchFamily="34" charset="-122"/>
                <a:cs typeface="Yu Gothic" pitchFamily="34" charset="-120"/>
              </a:rPr>
              <a:t>一言で言うと</a:t>
            </a:r>
            <a:endParaRPr lang="en-US" sz="2600" dirty="0"/>
          </a:p>
        </p:txBody>
      </p:sp>
      <p:sp>
        <p:nvSpPr>
          <p:cNvPr id="4" name="Text 2"/>
          <p:cNvSpPr/>
          <p:nvPr/>
        </p:nvSpPr>
        <p:spPr>
          <a:xfrm>
            <a:off x="640080" y="914400"/>
            <a:ext cx="8046720" cy="320040"/>
          </a:xfrm>
          <a:prstGeom prst="rect">
            <a:avLst/>
          </a:prstGeom>
          <a:noFill/>
          <a:ln/>
        </p:spPr>
        <p:txBody>
          <a:bodyPr wrap="square" lIns="0" tIns="0" rIns="0" bIns="0" rtlCol="0" anchor="ctr"/>
          <a:lstStyle/>
          <a:p>
            <a:pPr indent="0" marL="0">
              <a:buNone/>
            </a:pPr>
            <a:r>
              <a:rPr lang="en-US" sz="1200" spc="200" kern="0" dirty="0">
                <a:solidFill>
                  <a:srgbClr val="6B7280"/>
                </a:solidFill>
                <a:latin typeface="Yu Gothic" pitchFamily="34" charset="0"/>
                <a:ea typeface="Yu Gothic" pitchFamily="34" charset="-122"/>
                <a:cs typeface="Yu Gothic" pitchFamily="34" charset="-120"/>
              </a:rPr>
              <a:t>IN ONE SENTENCE</a:t>
            </a:r>
            <a:endParaRPr lang="en-US" sz="1200" dirty="0"/>
          </a:p>
        </p:txBody>
      </p:sp>
      <p:sp>
        <p:nvSpPr>
          <p:cNvPr id="5" name="Shape 3"/>
          <p:cNvSpPr/>
          <p:nvPr/>
        </p:nvSpPr>
        <p:spPr>
          <a:xfrm>
            <a:off x="457200" y="1554480"/>
            <a:ext cx="8229600" cy="2926080"/>
          </a:xfrm>
          <a:prstGeom prst="rect">
            <a:avLst/>
          </a:prstGeom>
          <a:solidFill>
            <a:srgbClr val="EAF1FF"/>
          </a:solidFill>
          <a:ln/>
        </p:spPr>
      </p:sp>
      <p:sp>
        <p:nvSpPr>
          <p:cNvPr id="6" name="Shape 4"/>
          <p:cNvSpPr/>
          <p:nvPr/>
        </p:nvSpPr>
        <p:spPr>
          <a:xfrm>
            <a:off x="457200" y="1554480"/>
            <a:ext cx="73152" cy="2926080"/>
          </a:xfrm>
          <a:prstGeom prst="rect">
            <a:avLst/>
          </a:prstGeom>
          <a:solidFill>
            <a:srgbClr val="1E2761"/>
          </a:solidFill>
          <a:ln/>
        </p:spPr>
      </p:sp>
      <p:sp>
        <p:nvSpPr>
          <p:cNvPr id="7" name="Text 5"/>
          <p:cNvSpPr/>
          <p:nvPr/>
        </p:nvSpPr>
        <p:spPr>
          <a:xfrm>
            <a:off x="822960" y="1828800"/>
            <a:ext cx="7680960" cy="502920"/>
          </a:xfrm>
          <a:prstGeom prst="rect">
            <a:avLst/>
          </a:prstGeom>
          <a:noFill/>
          <a:ln/>
        </p:spPr>
        <p:txBody>
          <a:bodyPr wrap="square" lIns="0" tIns="0" rIns="0" bIns="0" rtlCol="0" anchor="ctr"/>
          <a:lstStyle/>
          <a:p>
            <a:pPr indent="0" marL="0">
              <a:buNone/>
            </a:pPr>
            <a:r>
              <a:rPr lang="en-US" sz="2400" b="1" dirty="0">
                <a:solidFill>
                  <a:srgbClr val="1F2937"/>
                </a:solidFill>
                <a:latin typeface="Yu Gothic" pitchFamily="34" charset="0"/>
                <a:ea typeface="Yu Gothic" pitchFamily="34" charset="-122"/>
                <a:cs typeface="Yu Gothic" pitchFamily="34" charset="-120"/>
              </a:rPr>
              <a:t>結婚後にすれ違わないために、</a:t>
            </a:r>
            <a:endParaRPr lang="en-US" sz="2400" dirty="0"/>
          </a:p>
        </p:txBody>
      </p:sp>
      <p:sp>
        <p:nvSpPr>
          <p:cNvPr id="8" name="Text 6"/>
          <p:cNvSpPr/>
          <p:nvPr/>
        </p:nvSpPr>
        <p:spPr>
          <a:xfrm>
            <a:off x="822960" y="2377440"/>
            <a:ext cx="7680960" cy="502920"/>
          </a:xfrm>
          <a:prstGeom prst="rect">
            <a:avLst/>
          </a:prstGeom>
          <a:noFill/>
          <a:ln/>
        </p:spPr>
        <p:txBody>
          <a:bodyPr wrap="square" lIns="0" tIns="0" rIns="0" bIns="0" rtlCol="0" anchor="ctr"/>
          <a:lstStyle/>
          <a:p>
            <a:pPr indent="0" marL="0">
              <a:buNone/>
            </a:pPr>
            <a:r>
              <a:rPr lang="en-US" sz="2400" b="1" dirty="0">
                <a:solidFill>
                  <a:srgbClr val="1F2937"/>
                </a:solidFill>
                <a:latin typeface="Yu Gothic" pitchFamily="34" charset="0"/>
                <a:ea typeface="Yu Gothic" pitchFamily="34" charset="-122"/>
                <a:cs typeface="Yu Gothic" pitchFamily="34" charset="-120"/>
              </a:rPr>
              <a:t>自分の与え方・求め方を整理し、</a:t>
            </a:r>
            <a:endParaRPr lang="en-US" sz="2400" dirty="0"/>
          </a:p>
        </p:txBody>
      </p:sp>
      <p:sp>
        <p:nvSpPr>
          <p:cNvPr id="9" name="Text 7"/>
          <p:cNvSpPr/>
          <p:nvPr/>
        </p:nvSpPr>
        <p:spPr>
          <a:xfrm>
            <a:off x="822960" y="2926080"/>
            <a:ext cx="7680960" cy="502920"/>
          </a:xfrm>
          <a:prstGeom prst="rect">
            <a:avLst/>
          </a:prstGeom>
          <a:noFill/>
          <a:ln/>
        </p:spPr>
        <p:txBody>
          <a:bodyPr wrap="square" lIns="0" tIns="0" rIns="0" bIns="0" rtlCol="0" anchor="ctr"/>
          <a:lstStyle/>
          <a:p>
            <a:pPr indent="0" marL="0">
              <a:buNone/>
            </a:pPr>
            <a:r>
              <a:rPr lang="en-US" sz="2400" b="1" dirty="0">
                <a:solidFill>
                  <a:srgbClr val="1F2937"/>
                </a:solidFill>
                <a:latin typeface="Yu Gothic" pitchFamily="34" charset="0"/>
                <a:ea typeface="Yu Gothic" pitchFamily="34" charset="-122"/>
                <a:cs typeface="Yu Gothic" pitchFamily="34" charset="-120"/>
              </a:rPr>
              <a:t>相手が本当に幸せになる形と、</a:t>
            </a:r>
            <a:endParaRPr lang="en-US" sz="2400" dirty="0"/>
          </a:p>
        </p:txBody>
      </p:sp>
      <p:sp>
        <p:nvSpPr>
          <p:cNvPr id="10" name="Text 8"/>
          <p:cNvSpPr/>
          <p:nvPr/>
        </p:nvSpPr>
        <p:spPr>
          <a:xfrm>
            <a:off x="822960" y="3474720"/>
            <a:ext cx="7680960" cy="502920"/>
          </a:xfrm>
          <a:prstGeom prst="rect">
            <a:avLst/>
          </a:prstGeom>
          <a:noFill/>
          <a:ln/>
        </p:spPr>
        <p:txBody>
          <a:bodyPr wrap="square" lIns="0" tIns="0" rIns="0" bIns="0" rtlCol="0" anchor="ctr"/>
          <a:lstStyle/>
          <a:p>
            <a:pPr indent="0" marL="0">
              <a:buNone/>
            </a:pPr>
            <a:r>
              <a:rPr lang="en-US" sz="2400" b="1" dirty="0">
                <a:solidFill>
                  <a:srgbClr val="1E2761"/>
                </a:solidFill>
                <a:latin typeface="Yu Gothic" pitchFamily="34" charset="0"/>
                <a:ea typeface="Yu Gothic" pitchFamily="34" charset="-122"/>
                <a:cs typeface="Yu Gothic" pitchFamily="34" charset="-120"/>
              </a:rPr>
              <a:t>ふたりで目指す未来を設計するコンサル。</a:t>
            </a:r>
            <a:endParaRPr lang="en-US" sz="2400" dirty="0"/>
          </a:p>
        </p:txBody>
      </p:sp>
      <p:sp>
        <p:nvSpPr>
          <p:cNvPr id="11" name="Text 9"/>
          <p:cNvSpPr/>
          <p:nvPr/>
        </p:nvSpPr>
        <p:spPr>
          <a:xfrm>
            <a:off x="457200" y="4800600"/>
            <a:ext cx="4572000" cy="274320"/>
          </a:xfrm>
          <a:prstGeom prst="rect">
            <a:avLst/>
          </a:prstGeom>
          <a:noFill/>
          <a:ln/>
        </p:spPr>
        <p:txBody>
          <a:bodyPr wrap="square" lIns="0" tIns="0" rIns="0" bIns="0" rtlCol="0" anchor="ctr"/>
          <a:lstStyle/>
          <a:p>
            <a:pPr algn="l" indent="0" marL="0">
              <a:buNone/>
            </a:pPr>
            <a:r>
              <a:rPr lang="en-US" sz="900" spc="200" kern="0" dirty="0">
                <a:solidFill>
                  <a:srgbClr val="6B7280"/>
                </a:solidFill>
                <a:latin typeface="Yu Gothic" pitchFamily="34" charset="0"/>
                <a:ea typeface="Yu Gothic" pitchFamily="34" charset="-122"/>
                <a:cs typeface="Yu Gothic" pitchFamily="34" charset="-120"/>
              </a:rPr>
              <a:t>結婚前 Give&amp;Take マネジメント</a:t>
            </a:r>
            <a:endParaRPr lang="en-US" sz="900" dirty="0"/>
          </a:p>
        </p:txBody>
      </p:sp>
      <p:sp>
        <p:nvSpPr>
          <p:cNvPr id="12" name="Text 10"/>
          <p:cNvSpPr/>
          <p:nvPr/>
        </p:nvSpPr>
        <p:spPr>
          <a:xfrm>
            <a:off x="7955280" y="4800600"/>
            <a:ext cx="1005840" cy="274320"/>
          </a:xfrm>
          <a:prstGeom prst="rect">
            <a:avLst/>
          </a:prstGeom>
          <a:noFill/>
          <a:ln/>
        </p:spPr>
        <p:txBody>
          <a:bodyPr wrap="square" lIns="0" tIns="0" rIns="0" bIns="0"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03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64008" cy="457200"/>
          </a:xfrm>
          <a:prstGeom prst="rect">
            <a:avLst/>
          </a:prstGeom>
          <a:solidFill>
            <a:srgbClr val="1E2761"/>
          </a:solidFill>
          <a:ln/>
        </p:spPr>
      </p:sp>
      <p:sp>
        <p:nvSpPr>
          <p:cNvPr id="3" name="Text 1"/>
          <p:cNvSpPr/>
          <p:nvPr/>
        </p:nvSpPr>
        <p:spPr>
          <a:xfrm>
            <a:off x="640080" y="411480"/>
            <a:ext cx="8046720" cy="502920"/>
          </a:xfrm>
          <a:prstGeom prst="rect">
            <a:avLst/>
          </a:prstGeom>
          <a:noFill/>
          <a:ln/>
        </p:spPr>
        <p:txBody>
          <a:bodyPr wrap="square" lIns="0" tIns="0" rIns="0" bIns="0" rtlCol="0" anchor="ctr"/>
          <a:lstStyle/>
          <a:p>
            <a:pPr indent="0" marL="0">
              <a:buNone/>
            </a:pPr>
            <a:r>
              <a:rPr lang="en-US" sz="2600" b="1" dirty="0">
                <a:solidFill>
                  <a:srgbClr val="1F2937"/>
                </a:solidFill>
                <a:latin typeface="Yu Gothic" pitchFamily="34" charset="0"/>
                <a:ea typeface="Yu Gothic" pitchFamily="34" charset="-122"/>
                <a:cs typeface="Yu Gothic" pitchFamily="34" charset="-120"/>
              </a:rPr>
              <a:t>なぜ経営者男性に必要なのか</a:t>
            </a:r>
            <a:endParaRPr lang="en-US" sz="2600" dirty="0"/>
          </a:p>
        </p:txBody>
      </p:sp>
      <p:sp>
        <p:nvSpPr>
          <p:cNvPr id="4" name="Text 2"/>
          <p:cNvSpPr/>
          <p:nvPr/>
        </p:nvSpPr>
        <p:spPr>
          <a:xfrm>
            <a:off x="640080" y="914400"/>
            <a:ext cx="8046720" cy="320040"/>
          </a:xfrm>
          <a:prstGeom prst="rect">
            <a:avLst/>
          </a:prstGeom>
          <a:noFill/>
          <a:ln/>
        </p:spPr>
        <p:txBody>
          <a:bodyPr wrap="square" lIns="0" tIns="0" rIns="0" bIns="0" rtlCol="0" anchor="ctr"/>
          <a:lstStyle/>
          <a:p>
            <a:pPr indent="0" marL="0">
              <a:buNone/>
            </a:pPr>
            <a:r>
              <a:rPr lang="en-US" sz="1200" spc="200" kern="0" dirty="0">
                <a:solidFill>
                  <a:srgbClr val="6B7280"/>
                </a:solidFill>
                <a:latin typeface="Yu Gothic" pitchFamily="34" charset="0"/>
                <a:ea typeface="Yu Gothic" pitchFamily="34" charset="-122"/>
                <a:cs typeface="Yu Gothic" pitchFamily="34" charset="-120"/>
              </a:rPr>
              <a:t>WHY EXECUTIVES NEED THIS</a:t>
            </a:r>
            <a:endParaRPr lang="en-US" sz="1200" dirty="0"/>
          </a:p>
        </p:txBody>
      </p:sp>
      <p:sp>
        <p:nvSpPr>
          <p:cNvPr id="5" name="Text 3"/>
          <p:cNvSpPr/>
          <p:nvPr/>
        </p:nvSpPr>
        <p:spPr>
          <a:xfrm>
            <a:off x="640080" y="1417320"/>
            <a:ext cx="8046720" cy="365760"/>
          </a:xfrm>
          <a:prstGeom prst="rect">
            <a:avLst/>
          </a:prstGeom>
          <a:noFill/>
          <a:ln/>
        </p:spPr>
        <p:txBody>
          <a:bodyPr wrap="square" lIns="0" tIns="0" rIns="0" bIns="0" rtlCol="0" anchor="ctr"/>
          <a:lstStyle/>
          <a:p>
            <a:pPr indent="0" marL="0">
              <a:buNone/>
            </a:pPr>
            <a:r>
              <a:rPr lang="en-US" sz="1400" dirty="0">
                <a:solidFill>
                  <a:srgbClr val="374151"/>
                </a:solidFill>
                <a:latin typeface="Yu Gothic" pitchFamily="34" charset="0"/>
                <a:ea typeface="Yu Gothic" pitchFamily="34" charset="-122"/>
                <a:cs typeface="Yu Gothic" pitchFamily="34" charset="-120"/>
              </a:rPr>
              <a:t>経営者は、仕事では多くのことを先回りしている。</a:t>
            </a:r>
            <a:endParaRPr lang="en-US" sz="1400" dirty="0"/>
          </a:p>
        </p:txBody>
      </p:sp>
      <p:sp>
        <p:nvSpPr>
          <p:cNvPr id="6" name="Text 4"/>
          <p:cNvSpPr/>
          <p:nvPr/>
        </p:nvSpPr>
        <p:spPr>
          <a:xfrm>
            <a:off x="640080" y="1783080"/>
            <a:ext cx="8046720" cy="365760"/>
          </a:xfrm>
          <a:prstGeom prst="rect">
            <a:avLst/>
          </a:prstGeom>
          <a:noFill/>
          <a:ln/>
        </p:spPr>
        <p:txBody>
          <a:bodyPr wrap="square" lIns="0" tIns="0" rIns="0" bIns="0" rtlCol="0" anchor="ctr"/>
          <a:lstStyle/>
          <a:p>
            <a:pPr indent="0" marL="0">
              <a:buNone/>
            </a:pPr>
            <a:r>
              <a:rPr lang="en-US" sz="1200" dirty="0">
                <a:solidFill>
                  <a:srgbClr val="6B7280"/>
                </a:solidFill>
                <a:latin typeface="Yu Gothic" pitchFamily="34" charset="0"/>
                <a:ea typeface="Yu Gothic" pitchFamily="34" charset="-122"/>
                <a:cs typeface="Yu Gothic" pitchFamily="34" charset="-120"/>
              </a:rPr>
              <a:t>売上、採用、資金繰り、契約、顧客対応、組織づくり。問題が起きる前に手を打つ重要性を知っている。</a:t>
            </a:r>
            <a:endParaRPr lang="en-US" sz="1200" dirty="0"/>
          </a:p>
        </p:txBody>
      </p:sp>
      <p:sp>
        <p:nvSpPr>
          <p:cNvPr id="7" name="Shape 5"/>
          <p:cNvSpPr/>
          <p:nvPr/>
        </p:nvSpPr>
        <p:spPr>
          <a:xfrm>
            <a:off x="457200" y="2377440"/>
            <a:ext cx="2606040" cy="1188720"/>
          </a:xfrm>
          <a:prstGeom prst="rect">
            <a:avLst/>
          </a:prstGeom>
          <a:solidFill>
            <a:srgbClr val="F8FAFC"/>
          </a:solidFill>
          <a:ln w="9525">
            <a:solidFill>
              <a:srgbClr val="E5E7EB"/>
            </a:solidFill>
            <a:prstDash val="solid"/>
          </a:ln>
        </p:spPr>
      </p:sp>
      <p:sp>
        <p:nvSpPr>
          <p:cNvPr id="8" name="Text 6"/>
          <p:cNvSpPr/>
          <p:nvPr/>
        </p:nvSpPr>
        <p:spPr>
          <a:xfrm>
            <a:off x="548640" y="2423160"/>
            <a:ext cx="2423160" cy="1097280"/>
          </a:xfrm>
          <a:prstGeom prst="rect">
            <a:avLst/>
          </a:prstGeom>
          <a:noFill/>
          <a:ln/>
        </p:spPr>
        <p:txBody>
          <a:bodyPr wrap="square" lIns="0" tIns="0" rIns="0" bIns="0" rtlCol="0" anchor="ctr"/>
          <a:lstStyle/>
          <a:p>
            <a:pPr algn="ctr" indent="0" marL="0">
              <a:buNone/>
            </a:pPr>
            <a:r>
              <a:rPr lang="en-US" sz="1400" dirty="0">
                <a:solidFill>
                  <a:srgbClr val="1F2937"/>
                </a:solidFill>
                <a:latin typeface="Yu Gothic" pitchFamily="34" charset="0"/>
                <a:ea typeface="Yu Gothic" pitchFamily="34" charset="-122"/>
                <a:cs typeface="Yu Gothic" pitchFamily="34" charset="-120"/>
              </a:rPr>
              <a:t>「好きで結婚する</a:t>
            </a:r>
            <a:endParaRPr lang="en-US" sz="1400" dirty="0"/>
          </a:p>
          <a:p>
            <a:pPr algn="ctr" indent="0" marL="0">
              <a:buNone/>
            </a:pPr>
            <a:r>
              <a:rPr lang="en-US" sz="1400" dirty="0">
                <a:solidFill>
                  <a:srgbClr val="1F2937"/>
                </a:solidFill>
                <a:latin typeface="Yu Gothic" pitchFamily="34" charset="0"/>
                <a:ea typeface="Yu Gothic" pitchFamily="34" charset="-122"/>
                <a:cs typeface="Yu Gothic" pitchFamily="34" charset="-120"/>
              </a:rPr>
              <a:t>のだから大丈夫」</a:t>
            </a:r>
            <a:endParaRPr lang="en-US" sz="1400" dirty="0"/>
          </a:p>
        </p:txBody>
      </p:sp>
      <p:sp>
        <p:nvSpPr>
          <p:cNvPr id="9" name="Shape 7"/>
          <p:cNvSpPr/>
          <p:nvPr/>
        </p:nvSpPr>
        <p:spPr>
          <a:xfrm>
            <a:off x="3200400" y="2377440"/>
            <a:ext cx="2606040" cy="1188720"/>
          </a:xfrm>
          <a:prstGeom prst="rect">
            <a:avLst/>
          </a:prstGeom>
          <a:solidFill>
            <a:srgbClr val="F8FAFC"/>
          </a:solidFill>
          <a:ln w="9525">
            <a:solidFill>
              <a:srgbClr val="E5E7EB"/>
            </a:solidFill>
            <a:prstDash val="solid"/>
          </a:ln>
        </p:spPr>
      </p:sp>
      <p:sp>
        <p:nvSpPr>
          <p:cNvPr id="10" name="Text 8"/>
          <p:cNvSpPr/>
          <p:nvPr/>
        </p:nvSpPr>
        <p:spPr>
          <a:xfrm>
            <a:off x="3291840" y="2423160"/>
            <a:ext cx="2423160" cy="1097280"/>
          </a:xfrm>
          <a:prstGeom prst="rect">
            <a:avLst/>
          </a:prstGeom>
          <a:noFill/>
          <a:ln/>
        </p:spPr>
        <p:txBody>
          <a:bodyPr wrap="square" lIns="0" tIns="0" rIns="0" bIns="0" rtlCol="0" anchor="ctr"/>
          <a:lstStyle/>
          <a:p>
            <a:pPr algn="ctr" indent="0" marL="0">
              <a:buNone/>
            </a:pPr>
            <a:r>
              <a:rPr lang="en-US" sz="1400" dirty="0">
                <a:solidFill>
                  <a:srgbClr val="1F2937"/>
                </a:solidFill>
                <a:latin typeface="Yu Gothic" pitchFamily="34" charset="0"/>
                <a:ea typeface="Yu Gothic" pitchFamily="34" charset="-122"/>
                <a:cs typeface="Yu Gothic" pitchFamily="34" charset="-120"/>
              </a:rPr>
              <a:t>「家族のために</a:t>
            </a:r>
            <a:endParaRPr lang="en-US" sz="1400" dirty="0"/>
          </a:p>
          <a:p>
            <a:pPr algn="ctr" indent="0" marL="0">
              <a:buNone/>
            </a:pPr>
            <a:r>
              <a:rPr lang="en-US" sz="1400" dirty="0">
                <a:solidFill>
                  <a:srgbClr val="1F2937"/>
                </a:solidFill>
                <a:latin typeface="Yu Gothic" pitchFamily="34" charset="0"/>
                <a:ea typeface="Yu Gothic" pitchFamily="34" charset="-122"/>
                <a:cs typeface="Yu Gothic" pitchFamily="34" charset="-120"/>
              </a:rPr>
              <a:t>頑張れば伝わる」</a:t>
            </a:r>
            <a:endParaRPr lang="en-US" sz="1400" dirty="0"/>
          </a:p>
        </p:txBody>
      </p:sp>
      <p:sp>
        <p:nvSpPr>
          <p:cNvPr id="11" name="Shape 9"/>
          <p:cNvSpPr/>
          <p:nvPr/>
        </p:nvSpPr>
        <p:spPr>
          <a:xfrm>
            <a:off x="5943600" y="2377440"/>
            <a:ext cx="2606040" cy="1188720"/>
          </a:xfrm>
          <a:prstGeom prst="rect">
            <a:avLst/>
          </a:prstGeom>
          <a:solidFill>
            <a:srgbClr val="F8FAFC"/>
          </a:solidFill>
          <a:ln w="9525">
            <a:solidFill>
              <a:srgbClr val="E5E7EB"/>
            </a:solidFill>
            <a:prstDash val="solid"/>
          </a:ln>
        </p:spPr>
      </p:sp>
      <p:sp>
        <p:nvSpPr>
          <p:cNvPr id="12" name="Text 10"/>
          <p:cNvSpPr/>
          <p:nvPr/>
        </p:nvSpPr>
        <p:spPr>
          <a:xfrm>
            <a:off x="6035040" y="2423160"/>
            <a:ext cx="2423160" cy="1097280"/>
          </a:xfrm>
          <a:prstGeom prst="rect">
            <a:avLst/>
          </a:prstGeom>
          <a:noFill/>
          <a:ln/>
        </p:spPr>
        <p:txBody>
          <a:bodyPr wrap="square" lIns="0" tIns="0" rIns="0" bIns="0" rtlCol="0" anchor="ctr"/>
          <a:lstStyle/>
          <a:p>
            <a:pPr algn="ctr" indent="0" marL="0">
              <a:buNone/>
            </a:pPr>
            <a:r>
              <a:rPr lang="en-US" sz="1400" dirty="0">
                <a:solidFill>
                  <a:srgbClr val="1F2937"/>
                </a:solidFill>
                <a:latin typeface="Yu Gothic" pitchFamily="34" charset="0"/>
                <a:ea typeface="Yu Gothic" pitchFamily="34" charset="-122"/>
                <a:cs typeface="Yu Gothic" pitchFamily="34" charset="-120"/>
              </a:rPr>
              <a:t>「お金に困らせ</a:t>
            </a:r>
            <a:endParaRPr lang="en-US" sz="1400" dirty="0"/>
          </a:p>
          <a:p>
            <a:pPr algn="ctr" indent="0" marL="0">
              <a:buNone/>
            </a:pPr>
            <a:r>
              <a:rPr lang="en-US" sz="1400" dirty="0">
                <a:solidFill>
                  <a:srgbClr val="1F2937"/>
                </a:solidFill>
                <a:latin typeface="Yu Gothic" pitchFamily="34" charset="0"/>
                <a:ea typeface="Yu Gothic" pitchFamily="34" charset="-122"/>
                <a:cs typeface="Yu Gothic" pitchFamily="34" charset="-120"/>
              </a:rPr>
              <a:t>なければ大丈夫」</a:t>
            </a:r>
            <a:endParaRPr lang="en-US" sz="1400" dirty="0"/>
          </a:p>
        </p:txBody>
      </p:sp>
      <p:sp>
        <p:nvSpPr>
          <p:cNvPr id="13" name="Shape 11"/>
          <p:cNvSpPr/>
          <p:nvPr/>
        </p:nvSpPr>
        <p:spPr>
          <a:xfrm>
            <a:off x="457200" y="3840480"/>
            <a:ext cx="8229600" cy="777240"/>
          </a:xfrm>
          <a:prstGeom prst="rect">
            <a:avLst/>
          </a:prstGeom>
          <a:solidFill>
            <a:srgbClr val="0F1B47"/>
          </a:solidFill>
          <a:ln/>
        </p:spPr>
      </p:sp>
      <p:sp>
        <p:nvSpPr>
          <p:cNvPr id="14" name="Text 12"/>
          <p:cNvSpPr/>
          <p:nvPr/>
        </p:nvSpPr>
        <p:spPr>
          <a:xfrm>
            <a:off x="640080" y="3886200"/>
            <a:ext cx="7863840" cy="685800"/>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結婚後のすれ違いの多くは、愛情がないから起きるのではない。与え方・求め方・伝え方・目指す未来を設計していないから起きる。</a:t>
            </a:r>
            <a:endParaRPr lang="en-US" sz="1300" dirty="0"/>
          </a:p>
        </p:txBody>
      </p:sp>
      <p:sp>
        <p:nvSpPr>
          <p:cNvPr id="15" name="Text 13"/>
          <p:cNvSpPr/>
          <p:nvPr/>
        </p:nvSpPr>
        <p:spPr>
          <a:xfrm>
            <a:off x="457200" y="4800600"/>
            <a:ext cx="4572000" cy="274320"/>
          </a:xfrm>
          <a:prstGeom prst="rect">
            <a:avLst/>
          </a:prstGeom>
          <a:noFill/>
          <a:ln/>
        </p:spPr>
        <p:txBody>
          <a:bodyPr wrap="square" lIns="0" tIns="0" rIns="0" bIns="0" rtlCol="0" anchor="ctr"/>
          <a:lstStyle/>
          <a:p>
            <a:pPr algn="l" indent="0" marL="0">
              <a:buNone/>
            </a:pPr>
            <a:r>
              <a:rPr lang="en-US" sz="900" spc="200" kern="0" dirty="0">
                <a:solidFill>
                  <a:srgbClr val="6B7280"/>
                </a:solidFill>
                <a:latin typeface="Yu Gothic" pitchFamily="34" charset="0"/>
                <a:ea typeface="Yu Gothic" pitchFamily="34" charset="-122"/>
                <a:cs typeface="Yu Gothic" pitchFamily="34" charset="-120"/>
              </a:rPr>
              <a:t>結婚前 Give&amp;Take マネジメント</a:t>
            </a:r>
            <a:endParaRPr lang="en-US" sz="900" dirty="0"/>
          </a:p>
        </p:txBody>
      </p:sp>
      <p:sp>
        <p:nvSpPr>
          <p:cNvPr id="16" name="Text 14"/>
          <p:cNvSpPr/>
          <p:nvPr/>
        </p:nvSpPr>
        <p:spPr>
          <a:xfrm>
            <a:off x="7955280" y="4800600"/>
            <a:ext cx="1005840" cy="274320"/>
          </a:xfrm>
          <a:prstGeom prst="rect">
            <a:avLst/>
          </a:prstGeom>
          <a:noFill/>
          <a:ln/>
        </p:spPr>
        <p:txBody>
          <a:bodyPr wrap="square" lIns="0" tIns="0" rIns="0" bIns="0"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04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64008" cy="457200"/>
          </a:xfrm>
          <a:prstGeom prst="rect">
            <a:avLst/>
          </a:prstGeom>
          <a:solidFill>
            <a:srgbClr val="1E2761"/>
          </a:solidFill>
          <a:ln/>
        </p:spPr>
      </p:sp>
      <p:sp>
        <p:nvSpPr>
          <p:cNvPr id="3" name="Text 1"/>
          <p:cNvSpPr/>
          <p:nvPr/>
        </p:nvSpPr>
        <p:spPr>
          <a:xfrm>
            <a:off x="640080" y="411480"/>
            <a:ext cx="8046720" cy="502920"/>
          </a:xfrm>
          <a:prstGeom prst="rect">
            <a:avLst/>
          </a:prstGeom>
          <a:noFill/>
          <a:ln/>
        </p:spPr>
        <p:txBody>
          <a:bodyPr wrap="square" lIns="0" tIns="0" rIns="0" bIns="0" rtlCol="0" anchor="ctr"/>
          <a:lstStyle/>
          <a:p>
            <a:pPr indent="0" marL="0">
              <a:buNone/>
            </a:pPr>
            <a:r>
              <a:rPr lang="en-US" sz="2600" b="1" dirty="0">
                <a:solidFill>
                  <a:srgbClr val="1F2937"/>
                </a:solidFill>
                <a:latin typeface="Yu Gothic" pitchFamily="34" charset="0"/>
                <a:ea typeface="Yu Gothic" pitchFamily="34" charset="-122"/>
                <a:cs typeface="Yu Gothic" pitchFamily="34" charset="-120"/>
              </a:rPr>
              <a:t>経営者男性が結婚後に起こしやすい失敗</a:t>
            </a:r>
            <a:endParaRPr lang="en-US" sz="2600" dirty="0"/>
          </a:p>
        </p:txBody>
      </p:sp>
      <p:sp>
        <p:nvSpPr>
          <p:cNvPr id="4" name="Text 2"/>
          <p:cNvSpPr/>
          <p:nvPr/>
        </p:nvSpPr>
        <p:spPr>
          <a:xfrm>
            <a:off x="640080" y="914400"/>
            <a:ext cx="8046720" cy="320040"/>
          </a:xfrm>
          <a:prstGeom prst="rect">
            <a:avLst/>
          </a:prstGeom>
          <a:noFill/>
          <a:ln/>
        </p:spPr>
        <p:txBody>
          <a:bodyPr wrap="square" lIns="0" tIns="0" rIns="0" bIns="0" rtlCol="0" anchor="ctr"/>
          <a:lstStyle/>
          <a:p>
            <a:pPr indent="0" marL="0">
              <a:buNone/>
            </a:pPr>
            <a:r>
              <a:rPr lang="en-US" sz="1200" spc="200" kern="0" dirty="0">
                <a:solidFill>
                  <a:srgbClr val="6B7280"/>
                </a:solidFill>
                <a:latin typeface="Yu Gothic" pitchFamily="34" charset="0"/>
                <a:ea typeface="Yu Gothic" pitchFamily="34" charset="-122"/>
                <a:cs typeface="Yu Gothic" pitchFamily="34" charset="-120"/>
              </a:rPr>
              <a:t>1 / 3</a:t>
            </a:r>
            <a:endParaRPr lang="en-US" sz="1200" dirty="0"/>
          </a:p>
        </p:txBody>
      </p:sp>
      <p:sp>
        <p:nvSpPr>
          <p:cNvPr id="5" name="Shape 3"/>
          <p:cNvSpPr/>
          <p:nvPr/>
        </p:nvSpPr>
        <p:spPr>
          <a:xfrm>
            <a:off x="457200" y="1554480"/>
            <a:ext cx="3977640" cy="2743200"/>
          </a:xfrm>
          <a:prstGeom prst="rect">
            <a:avLst/>
          </a:prstGeom>
          <a:solidFill>
            <a:srgbClr val="FAFBFD"/>
          </a:solidFill>
          <a:ln w="9525">
            <a:solidFill>
              <a:srgbClr val="E5E7EB"/>
            </a:solidFill>
            <a:prstDash val="solid"/>
          </a:ln>
        </p:spPr>
      </p:sp>
      <p:sp>
        <p:nvSpPr>
          <p:cNvPr id="6" name="Shape 4"/>
          <p:cNvSpPr/>
          <p:nvPr/>
        </p:nvSpPr>
        <p:spPr>
          <a:xfrm>
            <a:off x="457200" y="1554480"/>
            <a:ext cx="3977640" cy="45720"/>
          </a:xfrm>
          <a:prstGeom prst="rect">
            <a:avLst/>
          </a:prstGeom>
          <a:solidFill>
            <a:srgbClr val="1E2761"/>
          </a:solidFill>
          <a:ln/>
        </p:spPr>
      </p:sp>
      <p:sp>
        <p:nvSpPr>
          <p:cNvPr id="7" name="Shape 5"/>
          <p:cNvSpPr/>
          <p:nvPr/>
        </p:nvSpPr>
        <p:spPr>
          <a:xfrm>
            <a:off x="731520" y="1828800"/>
            <a:ext cx="457200" cy="457200"/>
          </a:xfrm>
          <a:prstGeom prst="ellipse">
            <a:avLst/>
          </a:prstGeom>
          <a:solidFill>
            <a:srgbClr val="1E2761"/>
          </a:solidFill>
          <a:ln/>
        </p:spPr>
      </p:sp>
      <p:sp>
        <p:nvSpPr>
          <p:cNvPr id="8" name="Text 6"/>
          <p:cNvSpPr/>
          <p:nvPr/>
        </p:nvSpPr>
        <p:spPr>
          <a:xfrm>
            <a:off x="73152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1</a:t>
            </a:r>
            <a:endParaRPr lang="en-US" sz="1600" dirty="0"/>
          </a:p>
        </p:txBody>
      </p:sp>
      <p:sp>
        <p:nvSpPr>
          <p:cNvPr id="9" name="Text 7"/>
          <p:cNvSpPr/>
          <p:nvPr/>
        </p:nvSpPr>
        <p:spPr>
          <a:xfrm>
            <a:off x="1325880" y="1828800"/>
            <a:ext cx="2971800" cy="640080"/>
          </a:xfrm>
          <a:prstGeom prst="rect">
            <a:avLst/>
          </a:prstGeom>
          <a:noFill/>
          <a:ln/>
        </p:spPr>
        <p:txBody>
          <a:bodyPr wrap="square" lIns="0" tIns="0" rIns="0" bIns="0" rtlCol="0" anchor="t"/>
          <a:lstStyle/>
          <a:p>
            <a:pPr indent="0" marL="0">
              <a:buNone/>
            </a:pPr>
            <a:r>
              <a:rPr lang="en-US" sz="1400" b="1" dirty="0">
                <a:solidFill>
                  <a:srgbClr val="1F2937"/>
                </a:solidFill>
                <a:latin typeface="Yu Gothic" pitchFamily="34" charset="0"/>
                <a:ea typeface="Yu Gothic" pitchFamily="34" charset="-122"/>
                <a:cs typeface="Yu Gothic" pitchFamily="34" charset="-120"/>
              </a:rPr>
              <a:t>外ではロジック10、家では感情10</a:t>
            </a:r>
            <a:endParaRPr lang="en-US" sz="1400" dirty="0"/>
          </a:p>
        </p:txBody>
      </p:sp>
      <p:sp>
        <p:nvSpPr>
          <p:cNvPr id="10" name="Shape 8"/>
          <p:cNvSpPr/>
          <p:nvPr/>
        </p:nvSpPr>
        <p:spPr>
          <a:xfrm>
            <a:off x="731520" y="2560320"/>
            <a:ext cx="3429000" cy="0"/>
          </a:xfrm>
          <a:prstGeom prst="line">
            <a:avLst/>
          </a:prstGeom>
          <a:noFill/>
          <a:ln w="6350">
            <a:solidFill>
              <a:srgbClr val="E5E7EB"/>
            </a:solidFill>
            <a:prstDash val="solid"/>
          </a:ln>
        </p:spPr>
      </p:sp>
      <p:sp>
        <p:nvSpPr>
          <p:cNvPr id="11" name="Text 9"/>
          <p:cNvSpPr/>
          <p:nvPr/>
        </p:nvSpPr>
        <p:spPr>
          <a:xfrm>
            <a:off x="731520" y="2651760"/>
            <a:ext cx="3429000" cy="1508760"/>
          </a:xfrm>
          <a:prstGeom prst="rect">
            <a:avLst/>
          </a:prstGeom>
          <a:noFill/>
          <a:ln/>
        </p:spPr>
        <p:txBody>
          <a:bodyPr wrap="square" lIns="0" tIns="0" rIns="0" bIns="0" rtlCol="0" anchor="t"/>
          <a:lstStyle/>
          <a:p>
            <a:pPr indent="0" marL="0">
              <a:spcAft>
                <a:spcPts val="400"/>
              </a:spcAft>
              <a:buNone/>
            </a:pPr>
            <a:r>
              <a:rPr lang="en-US" sz="1200" dirty="0">
                <a:solidFill>
                  <a:srgbClr val="374151"/>
                </a:solidFill>
                <a:latin typeface="Yu Gothic" pitchFamily="34" charset="0"/>
                <a:ea typeface="Yu Gothic" pitchFamily="34" charset="-122"/>
                <a:cs typeface="Yu Gothic" pitchFamily="34" charset="-120"/>
              </a:rPr>
              <a:t>仕事では冷静に判断できるのに、近い関係だからこそ感情が強く出る。「わかってほしい」「感謝してほしい」「認めてほしい」が、本人はロジックのつもりで正論・圧・不機嫌として出てしまう。</a:t>
            </a:r>
            <a:endParaRPr lang="en-US" sz="1200" dirty="0"/>
          </a:p>
        </p:txBody>
      </p:sp>
      <p:sp>
        <p:nvSpPr>
          <p:cNvPr id="12" name="Shape 10"/>
          <p:cNvSpPr/>
          <p:nvPr/>
        </p:nvSpPr>
        <p:spPr>
          <a:xfrm>
            <a:off x="4709160" y="1554480"/>
            <a:ext cx="3977640" cy="2743200"/>
          </a:xfrm>
          <a:prstGeom prst="rect">
            <a:avLst/>
          </a:prstGeom>
          <a:solidFill>
            <a:srgbClr val="FAFBFD"/>
          </a:solidFill>
          <a:ln w="9525">
            <a:solidFill>
              <a:srgbClr val="E5E7EB"/>
            </a:solidFill>
            <a:prstDash val="solid"/>
          </a:ln>
        </p:spPr>
      </p:sp>
      <p:sp>
        <p:nvSpPr>
          <p:cNvPr id="13" name="Shape 11"/>
          <p:cNvSpPr/>
          <p:nvPr/>
        </p:nvSpPr>
        <p:spPr>
          <a:xfrm>
            <a:off x="4709160" y="1554480"/>
            <a:ext cx="3977640" cy="45720"/>
          </a:xfrm>
          <a:prstGeom prst="rect">
            <a:avLst/>
          </a:prstGeom>
          <a:solidFill>
            <a:srgbClr val="1E2761"/>
          </a:solidFill>
          <a:ln/>
        </p:spPr>
      </p:sp>
      <p:sp>
        <p:nvSpPr>
          <p:cNvPr id="14" name="Shape 12"/>
          <p:cNvSpPr/>
          <p:nvPr/>
        </p:nvSpPr>
        <p:spPr>
          <a:xfrm>
            <a:off x="4983480" y="1828800"/>
            <a:ext cx="457200" cy="457200"/>
          </a:xfrm>
          <a:prstGeom prst="ellipse">
            <a:avLst/>
          </a:prstGeom>
          <a:solidFill>
            <a:srgbClr val="1E2761"/>
          </a:solidFill>
          <a:ln/>
        </p:spPr>
      </p:sp>
      <p:sp>
        <p:nvSpPr>
          <p:cNvPr id="15" name="Text 13"/>
          <p:cNvSpPr/>
          <p:nvPr/>
        </p:nvSpPr>
        <p:spPr>
          <a:xfrm>
            <a:off x="498348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2</a:t>
            </a:r>
            <a:endParaRPr lang="en-US" sz="1600" dirty="0"/>
          </a:p>
        </p:txBody>
      </p:sp>
      <p:sp>
        <p:nvSpPr>
          <p:cNvPr id="16" name="Text 14"/>
          <p:cNvSpPr/>
          <p:nvPr/>
        </p:nvSpPr>
        <p:spPr>
          <a:xfrm>
            <a:off x="5577840" y="1828800"/>
            <a:ext cx="2971800" cy="640080"/>
          </a:xfrm>
          <a:prstGeom prst="rect">
            <a:avLst/>
          </a:prstGeom>
          <a:noFill/>
          <a:ln/>
        </p:spPr>
        <p:txBody>
          <a:bodyPr wrap="square" lIns="0" tIns="0" rIns="0" bIns="0" rtlCol="0" anchor="t"/>
          <a:lstStyle/>
          <a:p>
            <a:pPr indent="0" marL="0">
              <a:buNone/>
            </a:pPr>
            <a:r>
              <a:rPr lang="en-US" sz="1400" b="1" dirty="0">
                <a:solidFill>
                  <a:srgbClr val="1F2937"/>
                </a:solidFill>
                <a:latin typeface="Yu Gothic" pitchFamily="34" charset="0"/>
                <a:ea typeface="Yu Gothic" pitchFamily="34" charset="-122"/>
                <a:cs typeface="Yu Gothic" pitchFamily="34" charset="-120"/>
              </a:rPr>
              <a:t>稼ぐことが最大のGiveだと思ってしまう</a:t>
            </a:r>
            <a:endParaRPr lang="en-US" sz="1400" dirty="0"/>
          </a:p>
        </p:txBody>
      </p:sp>
      <p:sp>
        <p:nvSpPr>
          <p:cNvPr id="17" name="Shape 15"/>
          <p:cNvSpPr/>
          <p:nvPr/>
        </p:nvSpPr>
        <p:spPr>
          <a:xfrm>
            <a:off x="4983480" y="2560320"/>
            <a:ext cx="3429000" cy="0"/>
          </a:xfrm>
          <a:prstGeom prst="line">
            <a:avLst/>
          </a:prstGeom>
          <a:noFill/>
          <a:ln w="6350">
            <a:solidFill>
              <a:srgbClr val="E5E7EB"/>
            </a:solidFill>
            <a:prstDash val="solid"/>
          </a:ln>
        </p:spPr>
      </p:sp>
      <p:sp>
        <p:nvSpPr>
          <p:cNvPr id="18" name="Text 16"/>
          <p:cNvSpPr/>
          <p:nvPr/>
        </p:nvSpPr>
        <p:spPr>
          <a:xfrm>
            <a:off x="4983480" y="2651760"/>
            <a:ext cx="3429000" cy="1508760"/>
          </a:xfrm>
          <a:prstGeom prst="rect">
            <a:avLst/>
          </a:prstGeom>
          <a:noFill/>
          <a:ln/>
        </p:spPr>
        <p:txBody>
          <a:bodyPr wrap="square" lIns="0" tIns="0" rIns="0" bIns="0" rtlCol="0" anchor="t"/>
          <a:lstStyle/>
          <a:p>
            <a:pPr indent="0" marL="0">
              <a:spcAft>
                <a:spcPts val="400"/>
              </a:spcAft>
              <a:buNone/>
            </a:pPr>
            <a:r>
              <a:rPr lang="en-US" sz="1200" dirty="0">
                <a:solidFill>
                  <a:srgbClr val="374151"/>
                </a:solidFill>
                <a:latin typeface="Yu Gothic" pitchFamily="34" charset="0"/>
                <a:ea typeface="Yu Gothic" pitchFamily="34" charset="-122"/>
                <a:cs typeface="Yu Gothic" pitchFamily="34" charset="-120"/>
              </a:rPr>
              <a:t>責任を背負って働く分、「これだけやっている」と思いやすい。でもパートナーが本当に求めているのは、安心・大切にされる実感・一緒に未来を考えてくれること。Giveの形がズレている。</a:t>
            </a:r>
            <a:endParaRPr lang="en-US" sz="1200" dirty="0"/>
          </a:p>
        </p:txBody>
      </p:sp>
      <p:sp>
        <p:nvSpPr>
          <p:cNvPr id="19" name="Text 17"/>
          <p:cNvSpPr/>
          <p:nvPr/>
        </p:nvSpPr>
        <p:spPr>
          <a:xfrm>
            <a:off x="457200" y="4800600"/>
            <a:ext cx="4572000" cy="274320"/>
          </a:xfrm>
          <a:prstGeom prst="rect">
            <a:avLst/>
          </a:prstGeom>
          <a:noFill/>
          <a:ln/>
        </p:spPr>
        <p:txBody>
          <a:bodyPr wrap="square" lIns="0" tIns="0" rIns="0" bIns="0" rtlCol="0" anchor="ctr"/>
          <a:lstStyle/>
          <a:p>
            <a:pPr algn="l" indent="0" marL="0">
              <a:buNone/>
            </a:pPr>
            <a:r>
              <a:rPr lang="en-US" sz="900" spc="200" kern="0" dirty="0">
                <a:solidFill>
                  <a:srgbClr val="6B7280"/>
                </a:solidFill>
                <a:latin typeface="Yu Gothic" pitchFamily="34" charset="0"/>
                <a:ea typeface="Yu Gothic" pitchFamily="34" charset="-122"/>
                <a:cs typeface="Yu Gothic" pitchFamily="34" charset="-120"/>
              </a:rPr>
              <a:t>結婚前 Give&amp;Take マネジメント</a:t>
            </a:r>
            <a:endParaRPr lang="en-US" sz="900" dirty="0"/>
          </a:p>
        </p:txBody>
      </p:sp>
      <p:sp>
        <p:nvSpPr>
          <p:cNvPr id="20" name="Text 18"/>
          <p:cNvSpPr/>
          <p:nvPr/>
        </p:nvSpPr>
        <p:spPr>
          <a:xfrm>
            <a:off x="7955280" y="4800600"/>
            <a:ext cx="1005840" cy="274320"/>
          </a:xfrm>
          <a:prstGeom prst="rect">
            <a:avLst/>
          </a:prstGeom>
          <a:noFill/>
          <a:ln/>
        </p:spPr>
        <p:txBody>
          <a:bodyPr wrap="square" lIns="0" tIns="0" rIns="0" bIns="0"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05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64008" cy="457200"/>
          </a:xfrm>
          <a:prstGeom prst="rect">
            <a:avLst/>
          </a:prstGeom>
          <a:solidFill>
            <a:srgbClr val="1E2761"/>
          </a:solidFill>
          <a:ln/>
        </p:spPr>
      </p:sp>
      <p:sp>
        <p:nvSpPr>
          <p:cNvPr id="3" name="Text 1"/>
          <p:cNvSpPr/>
          <p:nvPr/>
        </p:nvSpPr>
        <p:spPr>
          <a:xfrm>
            <a:off x="640080" y="411480"/>
            <a:ext cx="8046720" cy="502920"/>
          </a:xfrm>
          <a:prstGeom prst="rect">
            <a:avLst/>
          </a:prstGeom>
          <a:noFill/>
          <a:ln/>
        </p:spPr>
        <p:txBody>
          <a:bodyPr wrap="square" lIns="0" tIns="0" rIns="0" bIns="0" rtlCol="0" anchor="ctr"/>
          <a:lstStyle/>
          <a:p>
            <a:pPr indent="0" marL="0">
              <a:buNone/>
            </a:pPr>
            <a:r>
              <a:rPr lang="en-US" sz="2600" b="1" dirty="0">
                <a:solidFill>
                  <a:srgbClr val="1F2937"/>
                </a:solidFill>
                <a:latin typeface="Yu Gothic" pitchFamily="34" charset="0"/>
                <a:ea typeface="Yu Gothic" pitchFamily="34" charset="-122"/>
                <a:cs typeface="Yu Gothic" pitchFamily="34" charset="-120"/>
              </a:rPr>
              <a:t>経営者男性が結婚後に起こしやすい失敗</a:t>
            </a:r>
            <a:endParaRPr lang="en-US" sz="2600" dirty="0"/>
          </a:p>
        </p:txBody>
      </p:sp>
      <p:sp>
        <p:nvSpPr>
          <p:cNvPr id="4" name="Text 2"/>
          <p:cNvSpPr/>
          <p:nvPr/>
        </p:nvSpPr>
        <p:spPr>
          <a:xfrm>
            <a:off x="640080" y="914400"/>
            <a:ext cx="8046720" cy="320040"/>
          </a:xfrm>
          <a:prstGeom prst="rect">
            <a:avLst/>
          </a:prstGeom>
          <a:noFill/>
          <a:ln/>
        </p:spPr>
        <p:txBody>
          <a:bodyPr wrap="square" lIns="0" tIns="0" rIns="0" bIns="0" rtlCol="0" anchor="ctr"/>
          <a:lstStyle/>
          <a:p>
            <a:pPr indent="0" marL="0">
              <a:buNone/>
            </a:pPr>
            <a:r>
              <a:rPr lang="en-US" sz="1200" spc="200" kern="0" dirty="0">
                <a:solidFill>
                  <a:srgbClr val="6B7280"/>
                </a:solidFill>
                <a:latin typeface="Yu Gothic" pitchFamily="34" charset="0"/>
                <a:ea typeface="Yu Gothic" pitchFamily="34" charset="-122"/>
                <a:cs typeface="Yu Gothic" pitchFamily="34" charset="-120"/>
              </a:rPr>
              <a:t>2 / 3</a:t>
            </a:r>
            <a:endParaRPr lang="en-US" sz="1200" dirty="0"/>
          </a:p>
        </p:txBody>
      </p:sp>
      <p:sp>
        <p:nvSpPr>
          <p:cNvPr id="5" name="Shape 3"/>
          <p:cNvSpPr/>
          <p:nvPr/>
        </p:nvSpPr>
        <p:spPr>
          <a:xfrm>
            <a:off x="457200" y="1554480"/>
            <a:ext cx="3977640" cy="2743200"/>
          </a:xfrm>
          <a:prstGeom prst="rect">
            <a:avLst/>
          </a:prstGeom>
          <a:solidFill>
            <a:srgbClr val="FAFBFD"/>
          </a:solidFill>
          <a:ln w="9525">
            <a:solidFill>
              <a:srgbClr val="E5E7EB"/>
            </a:solidFill>
            <a:prstDash val="solid"/>
          </a:ln>
        </p:spPr>
      </p:sp>
      <p:sp>
        <p:nvSpPr>
          <p:cNvPr id="6" name="Shape 4"/>
          <p:cNvSpPr/>
          <p:nvPr/>
        </p:nvSpPr>
        <p:spPr>
          <a:xfrm>
            <a:off x="457200" y="1554480"/>
            <a:ext cx="3977640" cy="45720"/>
          </a:xfrm>
          <a:prstGeom prst="rect">
            <a:avLst/>
          </a:prstGeom>
          <a:solidFill>
            <a:srgbClr val="1E2761"/>
          </a:solidFill>
          <a:ln/>
        </p:spPr>
      </p:sp>
      <p:sp>
        <p:nvSpPr>
          <p:cNvPr id="7" name="Shape 5"/>
          <p:cNvSpPr/>
          <p:nvPr/>
        </p:nvSpPr>
        <p:spPr>
          <a:xfrm>
            <a:off x="731520" y="1828800"/>
            <a:ext cx="457200" cy="457200"/>
          </a:xfrm>
          <a:prstGeom prst="ellipse">
            <a:avLst/>
          </a:prstGeom>
          <a:solidFill>
            <a:srgbClr val="1E2761"/>
          </a:solidFill>
          <a:ln/>
        </p:spPr>
      </p:sp>
      <p:sp>
        <p:nvSpPr>
          <p:cNvPr id="8" name="Text 6"/>
          <p:cNvSpPr/>
          <p:nvPr/>
        </p:nvSpPr>
        <p:spPr>
          <a:xfrm>
            <a:off x="73152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3</a:t>
            </a:r>
            <a:endParaRPr lang="en-US" sz="1600" dirty="0"/>
          </a:p>
        </p:txBody>
      </p:sp>
      <p:sp>
        <p:nvSpPr>
          <p:cNvPr id="9" name="Text 7"/>
          <p:cNvSpPr/>
          <p:nvPr/>
        </p:nvSpPr>
        <p:spPr>
          <a:xfrm>
            <a:off x="1325880" y="1828800"/>
            <a:ext cx="2971800" cy="640080"/>
          </a:xfrm>
          <a:prstGeom prst="rect">
            <a:avLst/>
          </a:prstGeom>
          <a:noFill/>
          <a:ln/>
        </p:spPr>
        <p:txBody>
          <a:bodyPr wrap="square" lIns="0" tIns="0" rIns="0" bIns="0" rtlCol="0" anchor="t"/>
          <a:lstStyle/>
          <a:p>
            <a:pPr indent="0" marL="0">
              <a:buNone/>
            </a:pPr>
            <a:r>
              <a:rPr lang="en-US" sz="1400" b="1" dirty="0">
                <a:solidFill>
                  <a:srgbClr val="1F2937"/>
                </a:solidFill>
                <a:latin typeface="Yu Gothic" pitchFamily="34" charset="0"/>
                <a:ea typeface="Yu Gothic" pitchFamily="34" charset="-122"/>
                <a:cs typeface="Yu Gothic" pitchFamily="34" charset="-120"/>
              </a:rPr>
              <a:t>近い人ほど後回しにしてしまう</a:t>
            </a:r>
            <a:endParaRPr lang="en-US" sz="1400" dirty="0"/>
          </a:p>
        </p:txBody>
      </p:sp>
      <p:sp>
        <p:nvSpPr>
          <p:cNvPr id="10" name="Shape 8"/>
          <p:cNvSpPr/>
          <p:nvPr/>
        </p:nvSpPr>
        <p:spPr>
          <a:xfrm>
            <a:off x="731520" y="2560320"/>
            <a:ext cx="3429000" cy="0"/>
          </a:xfrm>
          <a:prstGeom prst="line">
            <a:avLst/>
          </a:prstGeom>
          <a:noFill/>
          <a:ln w="6350">
            <a:solidFill>
              <a:srgbClr val="E5E7EB"/>
            </a:solidFill>
            <a:prstDash val="solid"/>
          </a:ln>
        </p:spPr>
      </p:sp>
      <p:sp>
        <p:nvSpPr>
          <p:cNvPr id="11" name="Text 9"/>
          <p:cNvSpPr/>
          <p:nvPr/>
        </p:nvSpPr>
        <p:spPr>
          <a:xfrm>
            <a:off x="731520" y="2651760"/>
            <a:ext cx="3429000" cy="1508760"/>
          </a:xfrm>
          <a:prstGeom prst="rect">
            <a:avLst/>
          </a:prstGeom>
          <a:noFill/>
          <a:ln/>
        </p:spPr>
        <p:txBody>
          <a:bodyPr wrap="square" lIns="0" tIns="0" rIns="0" bIns="0" rtlCol="0" anchor="t"/>
          <a:lstStyle/>
          <a:p>
            <a:pPr indent="0" marL="0">
              <a:spcAft>
                <a:spcPts val="400"/>
              </a:spcAft>
              <a:buNone/>
            </a:pPr>
            <a:r>
              <a:rPr lang="en-US" sz="1200" dirty="0">
                <a:solidFill>
                  <a:srgbClr val="374151"/>
                </a:solidFill>
                <a:latin typeface="Yu Gothic" pitchFamily="34" charset="0"/>
                <a:ea typeface="Yu Gothic" pitchFamily="34" charset="-122"/>
                <a:cs typeface="Yu Gothic" pitchFamily="34" charset="-120"/>
              </a:rPr>
              <a:t>外の人には丁寧なのに、パートナーには「わかってくれているはず」で連絡や説明を省いてしまう。愛情がないのではなく、安心している相手ほど雑になりやすい。信頼は静かに削れていく。</a:t>
            </a:r>
            <a:endParaRPr lang="en-US" sz="1200" dirty="0"/>
          </a:p>
        </p:txBody>
      </p:sp>
      <p:sp>
        <p:nvSpPr>
          <p:cNvPr id="12" name="Shape 10"/>
          <p:cNvSpPr/>
          <p:nvPr/>
        </p:nvSpPr>
        <p:spPr>
          <a:xfrm>
            <a:off x="4709160" y="1554480"/>
            <a:ext cx="3977640" cy="2743200"/>
          </a:xfrm>
          <a:prstGeom prst="rect">
            <a:avLst/>
          </a:prstGeom>
          <a:solidFill>
            <a:srgbClr val="FAFBFD"/>
          </a:solidFill>
          <a:ln w="9525">
            <a:solidFill>
              <a:srgbClr val="E5E7EB"/>
            </a:solidFill>
            <a:prstDash val="solid"/>
          </a:ln>
        </p:spPr>
      </p:sp>
      <p:sp>
        <p:nvSpPr>
          <p:cNvPr id="13" name="Shape 11"/>
          <p:cNvSpPr/>
          <p:nvPr/>
        </p:nvSpPr>
        <p:spPr>
          <a:xfrm>
            <a:off x="4709160" y="1554480"/>
            <a:ext cx="3977640" cy="45720"/>
          </a:xfrm>
          <a:prstGeom prst="rect">
            <a:avLst/>
          </a:prstGeom>
          <a:solidFill>
            <a:srgbClr val="1E2761"/>
          </a:solidFill>
          <a:ln/>
        </p:spPr>
      </p:sp>
      <p:sp>
        <p:nvSpPr>
          <p:cNvPr id="14" name="Shape 12"/>
          <p:cNvSpPr/>
          <p:nvPr/>
        </p:nvSpPr>
        <p:spPr>
          <a:xfrm>
            <a:off x="4983480" y="1828800"/>
            <a:ext cx="457200" cy="457200"/>
          </a:xfrm>
          <a:prstGeom prst="ellipse">
            <a:avLst/>
          </a:prstGeom>
          <a:solidFill>
            <a:srgbClr val="1E2761"/>
          </a:solidFill>
          <a:ln/>
        </p:spPr>
      </p:sp>
      <p:sp>
        <p:nvSpPr>
          <p:cNvPr id="15" name="Text 13"/>
          <p:cNvSpPr/>
          <p:nvPr/>
        </p:nvSpPr>
        <p:spPr>
          <a:xfrm>
            <a:off x="498348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4</a:t>
            </a:r>
            <a:endParaRPr lang="en-US" sz="1600" dirty="0"/>
          </a:p>
        </p:txBody>
      </p:sp>
      <p:sp>
        <p:nvSpPr>
          <p:cNvPr id="16" name="Text 14"/>
          <p:cNvSpPr/>
          <p:nvPr/>
        </p:nvSpPr>
        <p:spPr>
          <a:xfrm>
            <a:off x="5577840" y="1828800"/>
            <a:ext cx="2971800" cy="640080"/>
          </a:xfrm>
          <a:prstGeom prst="rect">
            <a:avLst/>
          </a:prstGeom>
          <a:noFill/>
          <a:ln/>
        </p:spPr>
        <p:txBody>
          <a:bodyPr wrap="square" lIns="0" tIns="0" rIns="0" bIns="0" rtlCol="0" anchor="t"/>
          <a:lstStyle/>
          <a:p>
            <a:pPr indent="0" marL="0">
              <a:buNone/>
            </a:pPr>
            <a:r>
              <a:rPr lang="en-US" sz="1400" b="1" dirty="0">
                <a:solidFill>
                  <a:srgbClr val="1F2937"/>
                </a:solidFill>
                <a:latin typeface="Yu Gothic" pitchFamily="34" charset="0"/>
                <a:ea typeface="Yu Gothic" pitchFamily="34" charset="-122"/>
                <a:cs typeface="Yu Gothic" pitchFamily="34" charset="-120"/>
              </a:rPr>
              <a:t>「してあげている」が不満に変わる</a:t>
            </a:r>
            <a:endParaRPr lang="en-US" sz="1400" dirty="0"/>
          </a:p>
        </p:txBody>
      </p:sp>
      <p:sp>
        <p:nvSpPr>
          <p:cNvPr id="17" name="Shape 15"/>
          <p:cNvSpPr/>
          <p:nvPr/>
        </p:nvSpPr>
        <p:spPr>
          <a:xfrm>
            <a:off x="4983480" y="2560320"/>
            <a:ext cx="3429000" cy="0"/>
          </a:xfrm>
          <a:prstGeom prst="line">
            <a:avLst/>
          </a:prstGeom>
          <a:noFill/>
          <a:ln w="6350">
            <a:solidFill>
              <a:srgbClr val="E5E7EB"/>
            </a:solidFill>
            <a:prstDash val="solid"/>
          </a:ln>
        </p:spPr>
      </p:sp>
      <p:sp>
        <p:nvSpPr>
          <p:cNvPr id="18" name="Text 16"/>
          <p:cNvSpPr/>
          <p:nvPr/>
        </p:nvSpPr>
        <p:spPr>
          <a:xfrm>
            <a:off x="4983480" y="2651760"/>
            <a:ext cx="3429000" cy="1508760"/>
          </a:xfrm>
          <a:prstGeom prst="rect">
            <a:avLst/>
          </a:prstGeom>
          <a:noFill/>
          <a:ln/>
        </p:spPr>
        <p:txBody>
          <a:bodyPr wrap="square" lIns="0" tIns="0" rIns="0" bIns="0" rtlCol="0" anchor="t"/>
          <a:lstStyle/>
          <a:p>
            <a:pPr indent="0" marL="0">
              <a:spcAft>
                <a:spcPts val="400"/>
              </a:spcAft>
              <a:buNone/>
            </a:pPr>
            <a:r>
              <a:rPr lang="en-US" sz="1200" dirty="0">
                <a:solidFill>
                  <a:srgbClr val="374151"/>
                </a:solidFill>
                <a:latin typeface="Yu Gothic" pitchFamily="34" charset="0"/>
                <a:ea typeface="Yu Gothic" pitchFamily="34" charset="-122"/>
                <a:cs typeface="Yu Gothic" pitchFamily="34" charset="-120"/>
              </a:rPr>
              <a:t>生活費、仕事、食事、旅行、プレゼント。その裏に「わかってほしい」「感謝してほしい」があると、GiveがTakeに変わる。本人は頑張りのつもり、相手は押しつけと感じてしまう。</a:t>
            </a:r>
            <a:endParaRPr lang="en-US" sz="1200" dirty="0"/>
          </a:p>
        </p:txBody>
      </p:sp>
      <p:sp>
        <p:nvSpPr>
          <p:cNvPr id="19" name="Text 17"/>
          <p:cNvSpPr/>
          <p:nvPr/>
        </p:nvSpPr>
        <p:spPr>
          <a:xfrm>
            <a:off x="457200" y="4800600"/>
            <a:ext cx="4572000" cy="274320"/>
          </a:xfrm>
          <a:prstGeom prst="rect">
            <a:avLst/>
          </a:prstGeom>
          <a:noFill/>
          <a:ln/>
        </p:spPr>
        <p:txBody>
          <a:bodyPr wrap="square" lIns="0" tIns="0" rIns="0" bIns="0" rtlCol="0" anchor="ctr"/>
          <a:lstStyle/>
          <a:p>
            <a:pPr algn="l" indent="0" marL="0">
              <a:buNone/>
            </a:pPr>
            <a:r>
              <a:rPr lang="en-US" sz="900" spc="200" kern="0" dirty="0">
                <a:solidFill>
                  <a:srgbClr val="6B7280"/>
                </a:solidFill>
                <a:latin typeface="Yu Gothic" pitchFamily="34" charset="0"/>
                <a:ea typeface="Yu Gothic" pitchFamily="34" charset="-122"/>
                <a:cs typeface="Yu Gothic" pitchFamily="34" charset="-120"/>
              </a:rPr>
              <a:t>結婚前 Give&amp;Take マネジメント</a:t>
            </a:r>
            <a:endParaRPr lang="en-US" sz="900" dirty="0"/>
          </a:p>
        </p:txBody>
      </p:sp>
      <p:sp>
        <p:nvSpPr>
          <p:cNvPr id="20" name="Text 18"/>
          <p:cNvSpPr/>
          <p:nvPr/>
        </p:nvSpPr>
        <p:spPr>
          <a:xfrm>
            <a:off x="7955280" y="4800600"/>
            <a:ext cx="1005840" cy="274320"/>
          </a:xfrm>
          <a:prstGeom prst="rect">
            <a:avLst/>
          </a:prstGeom>
          <a:noFill/>
          <a:ln/>
        </p:spPr>
        <p:txBody>
          <a:bodyPr wrap="square" lIns="0" tIns="0" rIns="0" bIns="0"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06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64008" cy="457200"/>
          </a:xfrm>
          <a:prstGeom prst="rect">
            <a:avLst/>
          </a:prstGeom>
          <a:solidFill>
            <a:srgbClr val="1E2761"/>
          </a:solidFill>
          <a:ln/>
        </p:spPr>
      </p:sp>
      <p:sp>
        <p:nvSpPr>
          <p:cNvPr id="3" name="Text 1"/>
          <p:cNvSpPr/>
          <p:nvPr/>
        </p:nvSpPr>
        <p:spPr>
          <a:xfrm>
            <a:off x="640080" y="411480"/>
            <a:ext cx="8046720" cy="502920"/>
          </a:xfrm>
          <a:prstGeom prst="rect">
            <a:avLst/>
          </a:prstGeom>
          <a:noFill/>
          <a:ln/>
        </p:spPr>
        <p:txBody>
          <a:bodyPr wrap="square" lIns="0" tIns="0" rIns="0" bIns="0" rtlCol="0" anchor="ctr"/>
          <a:lstStyle/>
          <a:p>
            <a:pPr indent="0" marL="0">
              <a:buNone/>
            </a:pPr>
            <a:r>
              <a:rPr lang="en-US" sz="2600" b="1" dirty="0">
                <a:solidFill>
                  <a:srgbClr val="1F2937"/>
                </a:solidFill>
                <a:latin typeface="Yu Gothic" pitchFamily="34" charset="0"/>
                <a:ea typeface="Yu Gothic" pitchFamily="34" charset="-122"/>
                <a:cs typeface="Yu Gothic" pitchFamily="34" charset="-120"/>
              </a:rPr>
              <a:t>経営者男性が結婚後に起こしやすい失敗</a:t>
            </a:r>
            <a:endParaRPr lang="en-US" sz="2600" dirty="0"/>
          </a:p>
        </p:txBody>
      </p:sp>
      <p:sp>
        <p:nvSpPr>
          <p:cNvPr id="4" name="Text 2"/>
          <p:cNvSpPr/>
          <p:nvPr/>
        </p:nvSpPr>
        <p:spPr>
          <a:xfrm>
            <a:off x="640080" y="914400"/>
            <a:ext cx="8046720" cy="320040"/>
          </a:xfrm>
          <a:prstGeom prst="rect">
            <a:avLst/>
          </a:prstGeom>
          <a:noFill/>
          <a:ln/>
        </p:spPr>
        <p:txBody>
          <a:bodyPr wrap="square" lIns="0" tIns="0" rIns="0" bIns="0" rtlCol="0" anchor="ctr"/>
          <a:lstStyle/>
          <a:p>
            <a:pPr indent="0" marL="0">
              <a:buNone/>
            </a:pPr>
            <a:r>
              <a:rPr lang="en-US" sz="1200" spc="200" kern="0" dirty="0">
                <a:solidFill>
                  <a:srgbClr val="6B7280"/>
                </a:solidFill>
                <a:latin typeface="Yu Gothic" pitchFamily="34" charset="0"/>
                <a:ea typeface="Yu Gothic" pitchFamily="34" charset="-122"/>
                <a:cs typeface="Yu Gothic" pitchFamily="34" charset="-120"/>
              </a:rPr>
              <a:t>3 / 3</a:t>
            </a:r>
            <a:endParaRPr lang="en-US" sz="1200" dirty="0"/>
          </a:p>
        </p:txBody>
      </p:sp>
      <p:sp>
        <p:nvSpPr>
          <p:cNvPr id="5" name="Shape 3"/>
          <p:cNvSpPr/>
          <p:nvPr/>
        </p:nvSpPr>
        <p:spPr>
          <a:xfrm>
            <a:off x="457200" y="1554480"/>
            <a:ext cx="3977640" cy="2743200"/>
          </a:xfrm>
          <a:prstGeom prst="rect">
            <a:avLst/>
          </a:prstGeom>
          <a:solidFill>
            <a:srgbClr val="FAFBFD"/>
          </a:solidFill>
          <a:ln w="9525">
            <a:solidFill>
              <a:srgbClr val="E5E7EB"/>
            </a:solidFill>
            <a:prstDash val="solid"/>
          </a:ln>
        </p:spPr>
      </p:sp>
      <p:sp>
        <p:nvSpPr>
          <p:cNvPr id="6" name="Shape 4"/>
          <p:cNvSpPr/>
          <p:nvPr/>
        </p:nvSpPr>
        <p:spPr>
          <a:xfrm>
            <a:off x="457200" y="1554480"/>
            <a:ext cx="3977640" cy="45720"/>
          </a:xfrm>
          <a:prstGeom prst="rect">
            <a:avLst/>
          </a:prstGeom>
          <a:solidFill>
            <a:srgbClr val="1E2761"/>
          </a:solidFill>
          <a:ln/>
        </p:spPr>
      </p:sp>
      <p:sp>
        <p:nvSpPr>
          <p:cNvPr id="7" name="Shape 5"/>
          <p:cNvSpPr/>
          <p:nvPr/>
        </p:nvSpPr>
        <p:spPr>
          <a:xfrm>
            <a:off x="731520" y="1828800"/>
            <a:ext cx="457200" cy="457200"/>
          </a:xfrm>
          <a:prstGeom prst="ellipse">
            <a:avLst/>
          </a:prstGeom>
          <a:solidFill>
            <a:srgbClr val="1E2761"/>
          </a:solidFill>
          <a:ln/>
        </p:spPr>
      </p:sp>
      <p:sp>
        <p:nvSpPr>
          <p:cNvPr id="8" name="Text 6"/>
          <p:cNvSpPr/>
          <p:nvPr/>
        </p:nvSpPr>
        <p:spPr>
          <a:xfrm>
            <a:off x="73152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5</a:t>
            </a:r>
            <a:endParaRPr lang="en-US" sz="1600" dirty="0"/>
          </a:p>
        </p:txBody>
      </p:sp>
      <p:sp>
        <p:nvSpPr>
          <p:cNvPr id="9" name="Text 7"/>
          <p:cNvSpPr/>
          <p:nvPr/>
        </p:nvSpPr>
        <p:spPr>
          <a:xfrm>
            <a:off x="1325880" y="1828800"/>
            <a:ext cx="2971800" cy="640080"/>
          </a:xfrm>
          <a:prstGeom prst="rect">
            <a:avLst/>
          </a:prstGeom>
          <a:noFill/>
          <a:ln/>
        </p:spPr>
        <p:txBody>
          <a:bodyPr wrap="square" lIns="0" tIns="0" rIns="0" bIns="0" rtlCol="0" anchor="t"/>
          <a:lstStyle/>
          <a:p>
            <a:pPr indent="0" marL="0">
              <a:buNone/>
            </a:pPr>
            <a:r>
              <a:rPr lang="en-US" sz="1400" b="1" dirty="0">
                <a:solidFill>
                  <a:srgbClr val="1F2937"/>
                </a:solidFill>
                <a:latin typeface="Yu Gothic" pitchFamily="34" charset="0"/>
                <a:ea typeface="Yu Gothic" pitchFamily="34" charset="-122"/>
                <a:cs typeface="Yu Gothic" pitchFamily="34" charset="-120"/>
              </a:rPr>
              <a:t>家庭でも社長のままでいようとしてしまう</a:t>
            </a:r>
            <a:endParaRPr lang="en-US" sz="1400" dirty="0"/>
          </a:p>
        </p:txBody>
      </p:sp>
      <p:sp>
        <p:nvSpPr>
          <p:cNvPr id="10" name="Shape 8"/>
          <p:cNvSpPr/>
          <p:nvPr/>
        </p:nvSpPr>
        <p:spPr>
          <a:xfrm>
            <a:off x="731520" y="2560320"/>
            <a:ext cx="3429000" cy="0"/>
          </a:xfrm>
          <a:prstGeom prst="line">
            <a:avLst/>
          </a:prstGeom>
          <a:noFill/>
          <a:ln w="6350">
            <a:solidFill>
              <a:srgbClr val="E5E7EB"/>
            </a:solidFill>
            <a:prstDash val="solid"/>
          </a:ln>
        </p:spPr>
      </p:sp>
      <p:sp>
        <p:nvSpPr>
          <p:cNvPr id="11" name="Text 9"/>
          <p:cNvSpPr/>
          <p:nvPr/>
        </p:nvSpPr>
        <p:spPr>
          <a:xfrm>
            <a:off x="731520" y="2651760"/>
            <a:ext cx="3429000" cy="1508760"/>
          </a:xfrm>
          <a:prstGeom prst="rect">
            <a:avLst/>
          </a:prstGeom>
          <a:noFill/>
          <a:ln/>
        </p:spPr>
        <p:txBody>
          <a:bodyPr wrap="square" lIns="0" tIns="0" rIns="0" bIns="0" rtlCol="0" anchor="t"/>
          <a:lstStyle/>
          <a:p>
            <a:pPr indent="0" marL="0">
              <a:spcAft>
                <a:spcPts val="400"/>
              </a:spcAft>
              <a:buNone/>
            </a:pPr>
            <a:r>
              <a:rPr lang="en-US" sz="1200" dirty="0">
                <a:solidFill>
                  <a:srgbClr val="374151"/>
                </a:solidFill>
                <a:latin typeface="Yu Gothic" pitchFamily="34" charset="0"/>
                <a:ea typeface="Yu Gothic" pitchFamily="34" charset="-122"/>
                <a:cs typeface="Yu Gothic" pitchFamily="34" charset="-120"/>
              </a:rPr>
              <a:t>決める・指示する・責任を取るは仕事の強み。でも家庭でも“決める人”でいることが正解とは限らない。正論なのに関係が悪くなるのは、関係性の前提がズレているから。家庭は会社ではない。</a:t>
            </a:r>
            <a:endParaRPr lang="en-US" sz="1200" dirty="0"/>
          </a:p>
        </p:txBody>
      </p:sp>
      <p:sp>
        <p:nvSpPr>
          <p:cNvPr id="12" name="Shape 10"/>
          <p:cNvSpPr/>
          <p:nvPr/>
        </p:nvSpPr>
        <p:spPr>
          <a:xfrm>
            <a:off x="4709160" y="1554480"/>
            <a:ext cx="3977640" cy="2743200"/>
          </a:xfrm>
          <a:prstGeom prst="rect">
            <a:avLst/>
          </a:prstGeom>
          <a:solidFill>
            <a:srgbClr val="FAFBFD"/>
          </a:solidFill>
          <a:ln w="9525">
            <a:solidFill>
              <a:srgbClr val="E5E7EB"/>
            </a:solidFill>
            <a:prstDash val="solid"/>
          </a:ln>
        </p:spPr>
      </p:sp>
      <p:sp>
        <p:nvSpPr>
          <p:cNvPr id="13" name="Shape 11"/>
          <p:cNvSpPr/>
          <p:nvPr/>
        </p:nvSpPr>
        <p:spPr>
          <a:xfrm>
            <a:off x="4709160" y="1554480"/>
            <a:ext cx="3977640" cy="45720"/>
          </a:xfrm>
          <a:prstGeom prst="rect">
            <a:avLst/>
          </a:prstGeom>
          <a:solidFill>
            <a:srgbClr val="1E2761"/>
          </a:solidFill>
          <a:ln/>
        </p:spPr>
      </p:sp>
      <p:sp>
        <p:nvSpPr>
          <p:cNvPr id="14" name="Shape 12"/>
          <p:cNvSpPr/>
          <p:nvPr/>
        </p:nvSpPr>
        <p:spPr>
          <a:xfrm>
            <a:off x="4983480" y="1828800"/>
            <a:ext cx="457200" cy="457200"/>
          </a:xfrm>
          <a:prstGeom prst="ellipse">
            <a:avLst/>
          </a:prstGeom>
          <a:solidFill>
            <a:srgbClr val="1E2761"/>
          </a:solidFill>
          <a:ln/>
        </p:spPr>
      </p:sp>
      <p:sp>
        <p:nvSpPr>
          <p:cNvPr id="15" name="Text 13"/>
          <p:cNvSpPr/>
          <p:nvPr/>
        </p:nvSpPr>
        <p:spPr>
          <a:xfrm>
            <a:off x="498348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6</a:t>
            </a:r>
            <a:endParaRPr lang="en-US" sz="1600" dirty="0"/>
          </a:p>
        </p:txBody>
      </p:sp>
      <p:sp>
        <p:nvSpPr>
          <p:cNvPr id="16" name="Text 14"/>
          <p:cNvSpPr/>
          <p:nvPr/>
        </p:nvSpPr>
        <p:spPr>
          <a:xfrm>
            <a:off x="5577840" y="1828800"/>
            <a:ext cx="2971800" cy="640080"/>
          </a:xfrm>
          <a:prstGeom prst="rect">
            <a:avLst/>
          </a:prstGeom>
          <a:noFill/>
          <a:ln/>
        </p:spPr>
        <p:txBody>
          <a:bodyPr wrap="square" lIns="0" tIns="0" rIns="0" bIns="0" rtlCol="0" anchor="t"/>
          <a:lstStyle/>
          <a:p>
            <a:pPr indent="0" marL="0">
              <a:buNone/>
            </a:pPr>
            <a:r>
              <a:rPr lang="en-US" sz="1400" b="1" dirty="0">
                <a:solidFill>
                  <a:srgbClr val="1F2937"/>
                </a:solidFill>
                <a:latin typeface="Yu Gothic" pitchFamily="34" charset="0"/>
                <a:ea typeface="Yu Gothic" pitchFamily="34" charset="-122"/>
                <a:cs typeface="Yu Gothic" pitchFamily="34" charset="-120"/>
              </a:rPr>
              <a:t>結婚したら自然にうまくいくと思ってしまう</a:t>
            </a:r>
            <a:endParaRPr lang="en-US" sz="1400" dirty="0"/>
          </a:p>
        </p:txBody>
      </p:sp>
      <p:sp>
        <p:nvSpPr>
          <p:cNvPr id="17" name="Shape 15"/>
          <p:cNvSpPr/>
          <p:nvPr/>
        </p:nvSpPr>
        <p:spPr>
          <a:xfrm>
            <a:off x="4983480" y="2560320"/>
            <a:ext cx="3429000" cy="0"/>
          </a:xfrm>
          <a:prstGeom prst="line">
            <a:avLst/>
          </a:prstGeom>
          <a:noFill/>
          <a:ln w="6350">
            <a:solidFill>
              <a:srgbClr val="E5E7EB"/>
            </a:solidFill>
            <a:prstDash val="solid"/>
          </a:ln>
        </p:spPr>
      </p:sp>
      <p:sp>
        <p:nvSpPr>
          <p:cNvPr id="18" name="Text 16"/>
          <p:cNvSpPr/>
          <p:nvPr/>
        </p:nvSpPr>
        <p:spPr>
          <a:xfrm>
            <a:off x="4983480" y="2651760"/>
            <a:ext cx="3429000" cy="1508760"/>
          </a:xfrm>
          <a:prstGeom prst="rect">
            <a:avLst/>
          </a:prstGeom>
          <a:noFill/>
          <a:ln/>
        </p:spPr>
        <p:txBody>
          <a:bodyPr wrap="square" lIns="0" tIns="0" rIns="0" bIns="0" rtlCol="0" anchor="t"/>
          <a:lstStyle/>
          <a:p>
            <a:pPr indent="0" marL="0">
              <a:spcAft>
                <a:spcPts val="400"/>
              </a:spcAft>
              <a:buNone/>
            </a:pPr>
            <a:r>
              <a:rPr lang="en-US" sz="1200" dirty="0">
                <a:solidFill>
                  <a:srgbClr val="374151"/>
                </a:solidFill>
                <a:latin typeface="Yu Gothic" pitchFamily="34" charset="0"/>
                <a:ea typeface="Yu Gothic" pitchFamily="34" charset="-122"/>
                <a:cs typeface="Yu Gothic" pitchFamily="34" charset="-120"/>
              </a:rPr>
              <a:t>会社では仕組みを作るのに、家庭では「結婚すれば自然と」と考えがち。時間・お金・親・子・仕事の優先順位――設計しないまま進めば、小さなズレが積み重なる。結婚は運用の始まり。</a:t>
            </a:r>
            <a:endParaRPr lang="en-US" sz="1200" dirty="0"/>
          </a:p>
        </p:txBody>
      </p:sp>
      <p:sp>
        <p:nvSpPr>
          <p:cNvPr id="19" name="Text 17"/>
          <p:cNvSpPr/>
          <p:nvPr/>
        </p:nvSpPr>
        <p:spPr>
          <a:xfrm>
            <a:off x="457200" y="4800600"/>
            <a:ext cx="4572000" cy="274320"/>
          </a:xfrm>
          <a:prstGeom prst="rect">
            <a:avLst/>
          </a:prstGeom>
          <a:noFill/>
          <a:ln/>
        </p:spPr>
        <p:txBody>
          <a:bodyPr wrap="square" lIns="0" tIns="0" rIns="0" bIns="0" rtlCol="0" anchor="ctr"/>
          <a:lstStyle/>
          <a:p>
            <a:pPr algn="l" indent="0" marL="0">
              <a:buNone/>
            </a:pPr>
            <a:r>
              <a:rPr lang="en-US" sz="900" spc="200" kern="0" dirty="0">
                <a:solidFill>
                  <a:srgbClr val="6B7280"/>
                </a:solidFill>
                <a:latin typeface="Yu Gothic" pitchFamily="34" charset="0"/>
                <a:ea typeface="Yu Gothic" pitchFamily="34" charset="-122"/>
                <a:cs typeface="Yu Gothic" pitchFamily="34" charset="-120"/>
              </a:rPr>
              <a:t>結婚前 Give&amp;Take マネジメント</a:t>
            </a:r>
            <a:endParaRPr lang="en-US" sz="900" dirty="0"/>
          </a:p>
        </p:txBody>
      </p:sp>
      <p:sp>
        <p:nvSpPr>
          <p:cNvPr id="20" name="Text 18"/>
          <p:cNvSpPr/>
          <p:nvPr/>
        </p:nvSpPr>
        <p:spPr>
          <a:xfrm>
            <a:off x="7955280" y="4800600"/>
            <a:ext cx="1005840" cy="274320"/>
          </a:xfrm>
          <a:prstGeom prst="rect">
            <a:avLst/>
          </a:prstGeom>
          <a:noFill/>
          <a:ln/>
        </p:spPr>
        <p:txBody>
          <a:bodyPr wrap="square" lIns="0" tIns="0" rIns="0" bIns="0"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07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64008" cy="457200"/>
          </a:xfrm>
          <a:prstGeom prst="rect">
            <a:avLst/>
          </a:prstGeom>
          <a:solidFill>
            <a:srgbClr val="1E2761"/>
          </a:solidFill>
          <a:ln/>
        </p:spPr>
      </p:sp>
      <p:sp>
        <p:nvSpPr>
          <p:cNvPr id="3" name="Text 1"/>
          <p:cNvSpPr/>
          <p:nvPr/>
        </p:nvSpPr>
        <p:spPr>
          <a:xfrm>
            <a:off x="640080" y="411480"/>
            <a:ext cx="8046720" cy="502920"/>
          </a:xfrm>
          <a:prstGeom prst="rect">
            <a:avLst/>
          </a:prstGeom>
          <a:noFill/>
          <a:ln/>
        </p:spPr>
        <p:txBody>
          <a:bodyPr wrap="square" lIns="0" tIns="0" rIns="0" bIns="0" rtlCol="0" anchor="ctr"/>
          <a:lstStyle/>
          <a:p>
            <a:pPr indent="0" marL="0">
              <a:buNone/>
            </a:pPr>
            <a:r>
              <a:rPr lang="en-US" sz="2600" b="1" dirty="0">
                <a:solidFill>
                  <a:srgbClr val="1F2937"/>
                </a:solidFill>
                <a:latin typeface="Yu Gothic" pitchFamily="34" charset="0"/>
                <a:ea typeface="Yu Gothic" pitchFamily="34" charset="-122"/>
                <a:cs typeface="Yu Gothic" pitchFamily="34" charset="-120"/>
              </a:rPr>
              <a:t>問題の本質</a:t>
            </a:r>
            <a:endParaRPr lang="en-US" sz="2600" dirty="0"/>
          </a:p>
        </p:txBody>
      </p:sp>
      <p:sp>
        <p:nvSpPr>
          <p:cNvPr id="4" name="Text 2"/>
          <p:cNvSpPr/>
          <p:nvPr/>
        </p:nvSpPr>
        <p:spPr>
          <a:xfrm>
            <a:off x="640080" y="914400"/>
            <a:ext cx="8046720" cy="320040"/>
          </a:xfrm>
          <a:prstGeom prst="rect">
            <a:avLst/>
          </a:prstGeom>
          <a:noFill/>
          <a:ln/>
        </p:spPr>
        <p:txBody>
          <a:bodyPr wrap="square" lIns="0" tIns="0" rIns="0" bIns="0" rtlCol="0" anchor="ctr"/>
          <a:lstStyle/>
          <a:p>
            <a:pPr indent="0" marL="0">
              <a:buNone/>
            </a:pPr>
            <a:r>
              <a:rPr lang="en-US" sz="1200" spc="200" kern="0" dirty="0">
                <a:solidFill>
                  <a:srgbClr val="6B7280"/>
                </a:solidFill>
                <a:latin typeface="Yu Gothic" pitchFamily="34" charset="0"/>
                <a:ea typeface="Yu Gothic" pitchFamily="34" charset="-122"/>
                <a:cs typeface="Yu Gothic" pitchFamily="34" charset="-120"/>
              </a:rPr>
              <a:t>ROOT CAUSES</a:t>
            </a:r>
            <a:endParaRPr lang="en-US" sz="1200" dirty="0"/>
          </a:p>
        </p:txBody>
      </p:sp>
      <p:sp>
        <p:nvSpPr>
          <p:cNvPr id="5" name="Text 3"/>
          <p:cNvSpPr/>
          <p:nvPr/>
        </p:nvSpPr>
        <p:spPr>
          <a:xfrm>
            <a:off x="640080" y="1371600"/>
            <a:ext cx="8046720" cy="320040"/>
          </a:xfrm>
          <a:prstGeom prst="rect">
            <a:avLst/>
          </a:prstGeom>
          <a:noFill/>
          <a:ln/>
        </p:spPr>
        <p:txBody>
          <a:bodyPr wrap="square" lIns="0" tIns="0" rIns="0" bIns="0" rtlCol="0" anchor="ctr"/>
          <a:lstStyle/>
          <a:p>
            <a:pPr indent="0" marL="0">
              <a:buNone/>
            </a:pPr>
            <a:r>
              <a:rPr lang="en-US" sz="1200" dirty="0">
                <a:solidFill>
                  <a:srgbClr val="6B7280"/>
                </a:solidFill>
                <a:latin typeface="Yu Gothic" pitchFamily="34" charset="0"/>
                <a:ea typeface="Yu Gothic" pitchFamily="34" charset="-122"/>
                <a:cs typeface="Yu Gothic" pitchFamily="34" charset="-120"/>
              </a:rPr>
              <a:t>経営者男性の結婚後の失敗は、愛情がないから起きるのではなく、多くの場合この4つから起きる。</a:t>
            </a:r>
            <a:endParaRPr lang="en-US" sz="1200" dirty="0"/>
          </a:p>
        </p:txBody>
      </p:sp>
      <p:sp>
        <p:nvSpPr>
          <p:cNvPr id="6" name="Shape 4"/>
          <p:cNvSpPr/>
          <p:nvPr/>
        </p:nvSpPr>
        <p:spPr>
          <a:xfrm>
            <a:off x="457200" y="1783080"/>
            <a:ext cx="4023360" cy="1417320"/>
          </a:xfrm>
          <a:prstGeom prst="rect">
            <a:avLst/>
          </a:prstGeom>
          <a:solidFill>
            <a:srgbClr val="FAFBFD"/>
          </a:solidFill>
          <a:ln w="9525">
            <a:solidFill>
              <a:srgbClr val="E5E7EB"/>
            </a:solidFill>
            <a:prstDash val="solid"/>
          </a:ln>
        </p:spPr>
      </p:sp>
      <p:sp>
        <p:nvSpPr>
          <p:cNvPr id="7" name="Shape 5"/>
          <p:cNvSpPr/>
          <p:nvPr/>
        </p:nvSpPr>
        <p:spPr>
          <a:xfrm>
            <a:off x="457200" y="1783080"/>
            <a:ext cx="64008" cy="1417320"/>
          </a:xfrm>
          <a:prstGeom prst="rect">
            <a:avLst/>
          </a:prstGeom>
          <a:solidFill>
            <a:srgbClr val="1E2761"/>
          </a:solidFill>
          <a:ln/>
        </p:spPr>
      </p:sp>
      <p:sp>
        <p:nvSpPr>
          <p:cNvPr id="8" name="Text 6"/>
          <p:cNvSpPr/>
          <p:nvPr/>
        </p:nvSpPr>
        <p:spPr>
          <a:xfrm>
            <a:off x="685800" y="1947672"/>
            <a:ext cx="640080"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Yu Gothic" pitchFamily="34" charset="0"/>
                <a:ea typeface="Yu Gothic" pitchFamily="34" charset="-122"/>
                <a:cs typeface="Yu Gothic" pitchFamily="34" charset="-120"/>
              </a:rPr>
              <a:t>01</a:t>
            </a:r>
            <a:endParaRPr lang="en-US" sz="1100" dirty="0"/>
          </a:p>
        </p:txBody>
      </p:sp>
      <p:sp>
        <p:nvSpPr>
          <p:cNvPr id="9" name="Text 7"/>
          <p:cNvSpPr/>
          <p:nvPr/>
        </p:nvSpPr>
        <p:spPr>
          <a:xfrm>
            <a:off x="685800" y="2221992"/>
            <a:ext cx="3611880" cy="365760"/>
          </a:xfrm>
          <a:prstGeom prst="rect">
            <a:avLst/>
          </a:prstGeom>
          <a:noFill/>
          <a:ln/>
        </p:spPr>
        <p:txBody>
          <a:bodyPr wrap="square" lIns="0" tIns="0" rIns="0" bIns="0" rtlCol="0" anchor="ctr"/>
          <a:lstStyle/>
          <a:p>
            <a:pPr indent="0" marL="0">
              <a:buNone/>
            </a:pPr>
            <a:r>
              <a:rPr lang="en-US" sz="1400" b="1" dirty="0">
                <a:solidFill>
                  <a:srgbClr val="1F2937"/>
                </a:solidFill>
                <a:latin typeface="Yu Gothic" pitchFamily="34" charset="0"/>
                <a:ea typeface="Yu Gothic" pitchFamily="34" charset="-122"/>
                <a:cs typeface="Yu Gothic" pitchFamily="34" charset="-120"/>
              </a:rPr>
              <a:t>自分の感情に気づいていない</a:t>
            </a:r>
            <a:endParaRPr lang="en-US" sz="1400" dirty="0"/>
          </a:p>
        </p:txBody>
      </p:sp>
      <p:sp>
        <p:nvSpPr>
          <p:cNvPr id="10" name="Text 8"/>
          <p:cNvSpPr/>
          <p:nvPr/>
        </p:nvSpPr>
        <p:spPr>
          <a:xfrm>
            <a:off x="685800" y="2587752"/>
            <a:ext cx="3611880" cy="548640"/>
          </a:xfrm>
          <a:prstGeom prst="rect">
            <a:avLst/>
          </a:prstGeom>
          <a:noFill/>
          <a:ln/>
        </p:spPr>
        <p:txBody>
          <a:bodyPr wrap="square" lIns="0" tIns="0" rIns="0" bIns="0" rtlCol="0" anchor="ctr"/>
          <a:lstStyle/>
          <a:p>
            <a:pPr indent="0" marL="0">
              <a:spcAft>
                <a:spcPts val="200"/>
              </a:spcAft>
              <a:buNone/>
            </a:pPr>
            <a:r>
              <a:rPr lang="en-US" sz="1050" dirty="0">
                <a:solidFill>
                  <a:srgbClr val="374151"/>
                </a:solidFill>
                <a:latin typeface="Yu Gothic" pitchFamily="34" charset="0"/>
                <a:ea typeface="Yu Gothic" pitchFamily="34" charset="-122"/>
                <a:cs typeface="Yu Gothic" pitchFamily="34" charset="-120"/>
              </a:rPr>
              <a:t>外ではロジックで動いているため家でも自分は冷静だと思ってしまう。実際は「わかってほしい」「認めてほしい」が強く出ている。</a:t>
            </a:r>
            <a:endParaRPr lang="en-US" sz="1050" dirty="0"/>
          </a:p>
        </p:txBody>
      </p:sp>
      <p:sp>
        <p:nvSpPr>
          <p:cNvPr id="11" name="Shape 9"/>
          <p:cNvSpPr/>
          <p:nvPr/>
        </p:nvSpPr>
        <p:spPr>
          <a:xfrm>
            <a:off x="4663440" y="1783080"/>
            <a:ext cx="4023360" cy="1417320"/>
          </a:xfrm>
          <a:prstGeom prst="rect">
            <a:avLst/>
          </a:prstGeom>
          <a:solidFill>
            <a:srgbClr val="FAFBFD"/>
          </a:solidFill>
          <a:ln w="9525">
            <a:solidFill>
              <a:srgbClr val="E5E7EB"/>
            </a:solidFill>
            <a:prstDash val="solid"/>
          </a:ln>
        </p:spPr>
      </p:sp>
      <p:sp>
        <p:nvSpPr>
          <p:cNvPr id="12" name="Shape 10"/>
          <p:cNvSpPr/>
          <p:nvPr/>
        </p:nvSpPr>
        <p:spPr>
          <a:xfrm>
            <a:off x="4663440" y="1783080"/>
            <a:ext cx="64008" cy="1417320"/>
          </a:xfrm>
          <a:prstGeom prst="rect">
            <a:avLst/>
          </a:prstGeom>
          <a:solidFill>
            <a:srgbClr val="1E2761"/>
          </a:solidFill>
          <a:ln/>
        </p:spPr>
      </p:sp>
      <p:sp>
        <p:nvSpPr>
          <p:cNvPr id="13" name="Text 11"/>
          <p:cNvSpPr/>
          <p:nvPr/>
        </p:nvSpPr>
        <p:spPr>
          <a:xfrm>
            <a:off x="4892040" y="1947672"/>
            <a:ext cx="640080"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Yu Gothic" pitchFamily="34" charset="0"/>
                <a:ea typeface="Yu Gothic" pitchFamily="34" charset="-122"/>
                <a:cs typeface="Yu Gothic" pitchFamily="34" charset="-120"/>
              </a:rPr>
              <a:t>02</a:t>
            </a:r>
            <a:endParaRPr lang="en-US" sz="1100" dirty="0"/>
          </a:p>
        </p:txBody>
      </p:sp>
      <p:sp>
        <p:nvSpPr>
          <p:cNvPr id="14" name="Text 12"/>
          <p:cNvSpPr/>
          <p:nvPr/>
        </p:nvSpPr>
        <p:spPr>
          <a:xfrm>
            <a:off x="4892040" y="2221992"/>
            <a:ext cx="3611880" cy="365760"/>
          </a:xfrm>
          <a:prstGeom prst="rect">
            <a:avLst/>
          </a:prstGeom>
          <a:noFill/>
          <a:ln/>
        </p:spPr>
        <p:txBody>
          <a:bodyPr wrap="square" lIns="0" tIns="0" rIns="0" bIns="0" rtlCol="0" anchor="ctr"/>
          <a:lstStyle/>
          <a:p>
            <a:pPr indent="0" marL="0">
              <a:buNone/>
            </a:pPr>
            <a:r>
              <a:rPr lang="en-US" sz="1400" b="1" dirty="0">
                <a:solidFill>
                  <a:srgbClr val="1F2937"/>
                </a:solidFill>
                <a:latin typeface="Yu Gothic" pitchFamily="34" charset="0"/>
                <a:ea typeface="Yu Gothic" pitchFamily="34" charset="-122"/>
                <a:cs typeface="Yu Gothic" pitchFamily="34" charset="-120"/>
              </a:rPr>
              <a:t>自分が与えたいものを与えている</a:t>
            </a:r>
            <a:endParaRPr lang="en-US" sz="1400" dirty="0"/>
          </a:p>
        </p:txBody>
      </p:sp>
      <p:sp>
        <p:nvSpPr>
          <p:cNvPr id="15" name="Text 13"/>
          <p:cNvSpPr/>
          <p:nvPr/>
        </p:nvSpPr>
        <p:spPr>
          <a:xfrm>
            <a:off x="4892040" y="2587752"/>
            <a:ext cx="3611880" cy="548640"/>
          </a:xfrm>
          <a:prstGeom prst="rect">
            <a:avLst/>
          </a:prstGeom>
          <a:noFill/>
          <a:ln/>
        </p:spPr>
        <p:txBody>
          <a:bodyPr wrap="square" lIns="0" tIns="0" rIns="0" bIns="0" rtlCol="0" anchor="ctr"/>
          <a:lstStyle/>
          <a:p>
            <a:pPr indent="0" marL="0">
              <a:spcAft>
                <a:spcPts val="200"/>
              </a:spcAft>
              <a:buNone/>
            </a:pPr>
            <a:r>
              <a:rPr lang="en-US" sz="1050" dirty="0">
                <a:solidFill>
                  <a:srgbClr val="374151"/>
                </a:solidFill>
                <a:latin typeface="Yu Gothic" pitchFamily="34" charset="0"/>
                <a:ea typeface="Yu Gothic" pitchFamily="34" charset="-122"/>
                <a:cs typeface="Yu Gothic" pitchFamily="34" charset="-120"/>
              </a:rPr>
              <a:t>稼ぐ・守る・連れて行く・買ってあげる。それ自体は悪くないが、相手が本当に欲しいものとズレていると、信頼として積み上がらない。</a:t>
            </a:r>
            <a:endParaRPr lang="en-US" sz="1050" dirty="0"/>
          </a:p>
        </p:txBody>
      </p:sp>
      <p:sp>
        <p:nvSpPr>
          <p:cNvPr id="16" name="Shape 14"/>
          <p:cNvSpPr/>
          <p:nvPr/>
        </p:nvSpPr>
        <p:spPr>
          <a:xfrm>
            <a:off x="457200" y="3337560"/>
            <a:ext cx="4023360" cy="1417320"/>
          </a:xfrm>
          <a:prstGeom prst="rect">
            <a:avLst/>
          </a:prstGeom>
          <a:solidFill>
            <a:srgbClr val="FAFBFD"/>
          </a:solidFill>
          <a:ln w="9525">
            <a:solidFill>
              <a:srgbClr val="E5E7EB"/>
            </a:solidFill>
            <a:prstDash val="solid"/>
          </a:ln>
        </p:spPr>
      </p:sp>
      <p:sp>
        <p:nvSpPr>
          <p:cNvPr id="17" name="Shape 15"/>
          <p:cNvSpPr/>
          <p:nvPr/>
        </p:nvSpPr>
        <p:spPr>
          <a:xfrm>
            <a:off x="457200" y="3337560"/>
            <a:ext cx="64008" cy="1417320"/>
          </a:xfrm>
          <a:prstGeom prst="rect">
            <a:avLst/>
          </a:prstGeom>
          <a:solidFill>
            <a:srgbClr val="1E2761"/>
          </a:solidFill>
          <a:ln/>
        </p:spPr>
      </p:sp>
      <p:sp>
        <p:nvSpPr>
          <p:cNvPr id="18" name="Text 16"/>
          <p:cNvSpPr/>
          <p:nvPr/>
        </p:nvSpPr>
        <p:spPr>
          <a:xfrm>
            <a:off x="685800" y="3502152"/>
            <a:ext cx="640080"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Yu Gothic" pitchFamily="34" charset="0"/>
                <a:ea typeface="Yu Gothic" pitchFamily="34" charset="-122"/>
                <a:cs typeface="Yu Gothic" pitchFamily="34" charset="-120"/>
              </a:rPr>
              <a:t>03</a:t>
            </a:r>
            <a:endParaRPr lang="en-US" sz="1100" dirty="0"/>
          </a:p>
        </p:txBody>
      </p:sp>
      <p:sp>
        <p:nvSpPr>
          <p:cNvPr id="19" name="Text 17"/>
          <p:cNvSpPr/>
          <p:nvPr/>
        </p:nvSpPr>
        <p:spPr>
          <a:xfrm>
            <a:off x="685800" y="3776472"/>
            <a:ext cx="3611880" cy="365760"/>
          </a:xfrm>
          <a:prstGeom prst="rect">
            <a:avLst/>
          </a:prstGeom>
          <a:noFill/>
          <a:ln/>
        </p:spPr>
        <p:txBody>
          <a:bodyPr wrap="square" lIns="0" tIns="0" rIns="0" bIns="0" rtlCol="0" anchor="ctr"/>
          <a:lstStyle/>
          <a:p>
            <a:pPr indent="0" marL="0">
              <a:buNone/>
            </a:pPr>
            <a:r>
              <a:rPr lang="en-US" sz="1400" b="1" dirty="0">
                <a:solidFill>
                  <a:srgbClr val="1F2937"/>
                </a:solidFill>
                <a:latin typeface="Yu Gothic" pitchFamily="34" charset="0"/>
                <a:ea typeface="Yu Gothic" pitchFamily="34" charset="-122"/>
                <a:cs typeface="Yu Gothic" pitchFamily="34" charset="-120"/>
              </a:rPr>
              <a:t>求めているのに、求めていると言えない</a:t>
            </a:r>
            <a:endParaRPr lang="en-US" sz="1400" dirty="0"/>
          </a:p>
        </p:txBody>
      </p:sp>
      <p:sp>
        <p:nvSpPr>
          <p:cNvPr id="20" name="Text 18"/>
          <p:cNvSpPr/>
          <p:nvPr/>
        </p:nvSpPr>
        <p:spPr>
          <a:xfrm>
            <a:off x="685800" y="4142232"/>
            <a:ext cx="3611880" cy="548640"/>
          </a:xfrm>
          <a:prstGeom prst="rect">
            <a:avLst/>
          </a:prstGeom>
          <a:noFill/>
          <a:ln/>
        </p:spPr>
        <p:txBody>
          <a:bodyPr wrap="square" lIns="0" tIns="0" rIns="0" bIns="0" rtlCol="0" anchor="ctr"/>
          <a:lstStyle/>
          <a:p>
            <a:pPr indent="0" marL="0">
              <a:spcAft>
                <a:spcPts val="200"/>
              </a:spcAft>
              <a:buNone/>
            </a:pPr>
            <a:r>
              <a:rPr lang="en-US" sz="1050" dirty="0">
                <a:solidFill>
                  <a:srgbClr val="374151"/>
                </a:solidFill>
                <a:latin typeface="Yu Gothic" pitchFamily="34" charset="0"/>
                <a:ea typeface="Yu Gothic" pitchFamily="34" charset="-122"/>
                <a:cs typeface="Yu Gothic" pitchFamily="34" charset="-120"/>
              </a:rPr>
              <a:t>「感謝してほしい」「支えてほしい」「味方でいてほしい」を素直に言えず、正論・不機嫌・沈黙・圧として出てしまう。</a:t>
            </a:r>
            <a:endParaRPr lang="en-US" sz="1050" dirty="0"/>
          </a:p>
        </p:txBody>
      </p:sp>
      <p:sp>
        <p:nvSpPr>
          <p:cNvPr id="21" name="Shape 19"/>
          <p:cNvSpPr/>
          <p:nvPr/>
        </p:nvSpPr>
        <p:spPr>
          <a:xfrm>
            <a:off x="4663440" y="3337560"/>
            <a:ext cx="4023360" cy="1417320"/>
          </a:xfrm>
          <a:prstGeom prst="rect">
            <a:avLst/>
          </a:prstGeom>
          <a:solidFill>
            <a:srgbClr val="FAFBFD"/>
          </a:solidFill>
          <a:ln w="9525">
            <a:solidFill>
              <a:srgbClr val="E5E7EB"/>
            </a:solidFill>
            <a:prstDash val="solid"/>
          </a:ln>
        </p:spPr>
      </p:sp>
      <p:sp>
        <p:nvSpPr>
          <p:cNvPr id="22" name="Shape 20"/>
          <p:cNvSpPr/>
          <p:nvPr/>
        </p:nvSpPr>
        <p:spPr>
          <a:xfrm>
            <a:off x="4663440" y="3337560"/>
            <a:ext cx="64008" cy="1417320"/>
          </a:xfrm>
          <a:prstGeom prst="rect">
            <a:avLst/>
          </a:prstGeom>
          <a:solidFill>
            <a:srgbClr val="1E2761"/>
          </a:solidFill>
          <a:ln/>
        </p:spPr>
      </p:sp>
      <p:sp>
        <p:nvSpPr>
          <p:cNvPr id="23" name="Text 21"/>
          <p:cNvSpPr/>
          <p:nvPr/>
        </p:nvSpPr>
        <p:spPr>
          <a:xfrm>
            <a:off x="4892040" y="3502152"/>
            <a:ext cx="640080"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Yu Gothic" pitchFamily="34" charset="0"/>
                <a:ea typeface="Yu Gothic" pitchFamily="34" charset="-122"/>
                <a:cs typeface="Yu Gothic" pitchFamily="34" charset="-120"/>
              </a:rPr>
              <a:t>04</a:t>
            </a:r>
            <a:endParaRPr lang="en-US" sz="1100" dirty="0"/>
          </a:p>
        </p:txBody>
      </p:sp>
      <p:sp>
        <p:nvSpPr>
          <p:cNvPr id="24" name="Text 22"/>
          <p:cNvSpPr/>
          <p:nvPr/>
        </p:nvSpPr>
        <p:spPr>
          <a:xfrm>
            <a:off x="4892040" y="3776472"/>
            <a:ext cx="3611880" cy="365760"/>
          </a:xfrm>
          <a:prstGeom prst="rect">
            <a:avLst/>
          </a:prstGeom>
          <a:noFill/>
          <a:ln/>
        </p:spPr>
        <p:txBody>
          <a:bodyPr wrap="square" lIns="0" tIns="0" rIns="0" bIns="0" rtlCol="0" anchor="ctr"/>
          <a:lstStyle/>
          <a:p>
            <a:pPr indent="0" marL="0">
              <a:buNone/>
            </a:pPr>
            <a:r>
              <a:rPr lang="en-US" sz="1400" b="1" dirty="0">
                <a:solidFill>
                  <a:srgbClr val="1F2937"/>
                </a:solidFill>
                <a:latin typeface="Yu Gothic" pitchFamily="34" charset="0"/>
                <a:ea typeface="Yu Gothic" pitchFamily="34" charset="-122"/>
                <a:cs typeface="Yu Gothic" pitchFamily="34" charset="-120"/>
              </a:rPr>
              <a:t>ふたりの未来が言語化されていない</a:t>
            </a:r>
            <a:endParaRPr lang="en-US" sz="1400" dirty="0"/>
          </a:p>
        </p:txBody>
      </p:sp>
      <p:sp>
        <p:nvSpPr>
          <p:cNvPr id="25" name="Text 23"/>
          <p:cNvSpPr/>
          <p:nvPr/>
        </p:nvSpPr>
        <p:spPr>
          <a:xfrm>
            <a:off x="4892040" y="4142232"/>
            <a:ext cx="3611880" cy="548640"/>
          </a:xfrm>
          <a:prstGeom prst="rect">
            <a:avLst/>
          </a:prstGeom>
          <a:noFill/>
          <a:ln/>
        </p:spPr>
        <p:txBody>
          <a:bodyPr wrap="square" lIns="0" tIns="0" rIns="0" bIns="0" rtlCol="0" anchor="ctr"/>
          <a:lstStyle/>
          <a:p>
            <a:pPr indent="0" marL="0">
              <a:spcAft>
                <a:spcPts val="200"/>
              </a:spcAft>
              <a:buNone/>
            </a:pPr>
            <a:r>
              <a:rPr lang="en-US" sz="1050" dirty="0">
                <a:solidFill>
                  <a:srgbClr val="374151"/>
                </a:solidFill>
                <a:latin typeface="Yu Gothic" pitchFamily="34" charset="0"/>
                <a:ea typeface="Yu Gothic" pitchFamily="34" charset="-122"/>
                <a:cs typeface="Yu Gothic" pitchFamily="34" charset="-120"/>
              </a:rPr>
              <a:t>どんな夫婦・家庭でいたいか、何を大切にするか。曖昧なまま結婚すると、お互い別々のゴールを持ったまま生活が始まる。</a:t>
            </a:r>
            <a:endParaRPr lang="en-US" sz="1050" dirty="0"/>
          </a:p>
        </p:txBody>
      </p:sp>
      <p:sp>
        <p:nvSpPr>
          <p:cNvPr id="26" name="Text 24"/>
          <p:cNvSpPr/>
          <p:nvPr/>
        </p:nvSpPr>
        <p:spPr>
          <a:xfrm>
            <a:off x="457200" y="4800600"/>
            <a:ext cx="4572000" cy="274320"/>
          </a:xfrm>
          <a:prstGeom prst="rect">
            <a:avLst/>
          </a:prstGeom>
          <a:noFill/>
          <a:ln/>
        </p:spPr>
        <p:txBody>
          <a:bodyPr wrap="square" lIns="0" tIns="0" rIns="0" bIns="0" rtlCol="0" anchor="ctr"/>
          <a:lstStyle/>
          <a:p>
            <a:pPr algn="l" indent="0" marL="0">
              <a:buNone/>
            </a:pPr>
            <a:r>
              <a:rPr lang="en-US" sz="900" spc="200" kern="0" dirty="0">
                <a:solidFill>
                  <a:srgbClr val="6B7280"/>
                </a:solidFill>
                <a:latin typeface="Yu Gothic" pitchFamily="34" charset="0"/>
                <a:ea typeface="Yu Gothic" pitchFamily="34" charset="-122"/>
                <a:cs typeface="Yu Gothic" pitchFamily="34" charset="-120"/>
              </a:rPr>
              <a:t>結婚前 Give&amp;Take マネジメント</a:t>
            </a:r>
            <a:endParaRPr lang="en-US" sz="900" dirty="0"/>
          </a:p>
        </p:txBody>
      </p:sp>
      <p:sp>
        <p:nvSpPr>
          <p:cNvPr id="27" name="Text 25"/>
          <p:cNvSpPr/>
          <p:nvPr/>
        </p:nvSpPr>
        <p:spPr>
          <a:xfrm>
            <a:off x="7955280" y="4800600"/>
            <a:ext cx="1005840" cy="274320"/>
          </a:xfrm>
          <a:prstGeom prst="rect">
            <a:avLst/>
          </a:prstGeom>
          <a:noFill/>
          <a:ln/>
        </p:spPr>
        <p:txBody>
          <a:bodyPr wrap="square" lIns="0" tIns="0" rIns="0" bIns="0"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08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64008" cy="457200"/>
          </a:xfrm>
          <a:prstGeom prst="rect">
            <a:avLst/>
          </a:prstGeom>
          <a:solidFill>
            <a:srgbClr val="1E2761"/>
          </a:solidFill>
          <a:ln/>
        </p:spPr>
      </p:sp>
      <p:sp>
        <p:nvSpPr>
          <p:cNvPr id="3" name="Text 1"/>
          <p:cNvSpPr/>
          <p:nvPr/>
        </p:nvSpPr>
        <p:spPr>
          <a:xfrm>
            <a:off x="640080" y="411480"/>
            <a:ext cx="8046720" cy="502920"/>
          </a:xfrm>
          <a:prstGeom prst="rect">
            <a:avLst/>
          </a:prstGeom>
          <a:noFill/>
          <a:ln/>
        </p:spPr>
        <p:txBody>
          <a:bodyPr wrap="square" lIns="0" tIns="0" rIns="0" bIns="0" rtlCol="0" anchor="ctr"/>
          <a:lstStyle/>
          <a:p>
            <a:pPr indent="0" marL="0">
              <a:buNone/>
            </a:pPr>
            <a:r>
              <a:rPr lang="en-US" sz="2600" b="1" dirty="0">
                <a:solidFill>
                  <a:srgbClr val="1F2937"/>
                </a:solidFill>
                <a:latin typeface="Yu Gothic" pitchFamily="34" charset="0"/>
                <a:ea typeface="Yu Gothic" pitchFamily="34" charset="-122"/>
                <a:cs typeface="Yu Gothic" pitchFamily="34" charset="-120"/>
              </a:rPr>
              <a:t>解決策 ①</a:t>
            </a:r>
            <a:endParaRPr lang="en-US" sz="2600" dirty="0"/>
          </a:p>
        </p:txBody>
      </p:sp>
      <p:sp>
        <p:nvSpPr>
          <p:cNvPr id="4" name="Text 2"/>
          <p:cNvSpPr/>
          <p:nvPr/>
        </p:nvSpPr>
        <p:spPr>
          <a:xfrm>
            <a:off x="640080" y="914400"/>
            <a:ext cx="8046720" cy="320040"/>
          </a:xfrm>
          <a:prstGeom prst="rect">
            <a:avLst/>
          </a:prstGeom>
          <a:noFill/>
          <a:ln/>
        </p:spPr>
        <p:txBody>
          <a:bodyPr wrap="square" lIns="0" tIns="0" rIns="0" bIns="0" rtlCol="0" anchor="ctr"/>
          <a:lstStyle/>
          <a:p>
            <a:pPr indent="0" marL="0">
              <a:buNone/>
            </a:pPr>
            <a:r>
              <a:rPr lang="en-US" sz="1200" spc="200" kern="0" dirty="0">
                <a:solidFill>
                  <a:srgbClr val="6B7280"/>
                </a:solidFill>
                <a:latin typeface="Yu Gothic" pitchFamily="34" charset="0"/>
                <a:ea typeface="Yu Gothic" pitchFamily="34" charset="-122"/>
                <a:cs typeface="Yu Gothic" pitchFamily="34" charset="-120"/>
              </a:rPr>
              <a:t>SOLUTION 01</a:t>
            </a:r>
            <a:endParaRPr lang="en-US" sz="1200" dirty="0"/>
          </a:p>
        </p:txBody>
      </p:sp>
      <p:sp>
        <p:nvSpPr>
          <p:cNvPr id="5" name="Text 3"/>
          <p:cNvSpPr/>
          <p:nvPr/>
        </p:nvSpPr>
        <p:spPr>
          <a:xfrm>
            <a:off x="640080" y="1371600"/>
            <a:ext cx="8046720" cy="548640"/>
          </a:xfrm>
          <a:prstGeom prst="rect">
            <a:avLst/>
          </a:prstGeom>
          <a:noFill/>
          <a:ln/>
        </p:spPr>
        <p:txBody>
          <a:bodyPr wrap="square" lIns="0" tIns="0" rIns="0" bIns="0" rtlCol="0" anchor="ctr"/>
          <a:lstStyle/>
          <a:p>
            <a:pPr indent="0" marL="0">
              <a:buNone/>
            </a:pPr>
            <a:r>
              <a:rPr lang="en-US" sz="2400" b="1" dirty="0">
                <a:solidFill>
                  <a:srgbClr val="1E2761"/>
                </a:solidFill>
                <a:latin typeface="Yu Gothic" pitchFamily="34" charset="0"/>
                <a:ea typeface="Yu Gothic" pitchFamily="34" charset="-122"/>
                <a:cs typeface="Yu Gothic" pitchFamily="34" charset="-120"/>
              </a:rPr>
              <a:t>相手が本当はどうなったら幸せかを考える</a:t>
            </a:r>
            <a:endParaRPr lang="en-US" sz="2400" dirty="0"/>
          </a:p>
        </p:txBody>
      </p:sp>
      <p:sp>
        <p:nvSpPr>
          <p:cNvPr id="6" name="Text 4"/>
          <p:cNvSpPr/>
          <p:nvPr/>
        </p:nvSpPr>
        <p:spPr>
          <a:xfrm>
            <a:off x="640080" y="1965960"/>
            <a:ext cx="8046720" cy="365760"/>
          </a:xfrm>
          <a:prstGeom prst="rect">
            <a:avLst/>
          </a:prstGeom>
          <a:noFill/>
          <a:ln/>
        </p:spPr>
        <p:txBody>
          <a:bodyPr wrap="square" lIns="0" tIns="0" rIns="0" bIns="0" rtlCol="0" anchor="ctr"/>
          <a:lstStyle/>
          <a:p>
            <a:pPr indent="0" marL="0">
              <a:buNone/>
            </a:pPr>
            <a:r>
              <a:rPr lang="en-US" sz="1400" dirty="0">
                <a:solidFill>
                  <a:srgbClr val="1F2937"/>
                </a:solidFill>
                <a:latin typeface="Yu Gothic" pitchFamily="34" charset="0"/>
                <a:ea typeface="Yu Gothic" pitchFamily="34" charset="-122"/>
                <a:cs typeface="Yu Gothic" pitchFamily="34" charset="-120"/>
              </a:rPr>
              <a:t>自分が与えたいものを与えるのではなく、相手が幸せになる形で与える。</a:t>
            </a:r>
            <a:endParaRPr lang="en-US" sz="1400" dirty="0"/>
          </a:p>
        </p:txBody>
      </p:sp>
      <p:sp>
        <p:nvSpPr>
          <p:cNvPr id="7" name="Shape 5"/>
          <p:cNvSpPr/>
          <p:nvPr/>
        </p:nvSpPr>
        <p:spPr>
          <a:xfrm>
            <a:off x="640080" y="2606040"/>
            <a:ext cx="36576" cy="320040"/>
          </a:xfrm>
          <a:prstGeom prst="rect">
            <a:avLst/>
          </a:prstGeom>
          <a:solidFill>
            <a:srgbClr val="1E2761"/>
          </a:solidFill>
          <a:ln/>
        </p:spPr>
      </p:sp>
      <p:sp>
        <p:nvSpPr>
          <p:cNvPr id="8" name="Text 6"/>
          <p:cNvSpPr/>
          <p:nvPr/>
        </p:nvSpPr>
        <p:spPr>
          <a:xfrm>
            <a:off x="777240" y="2569464"/>
            <a:ext cx="7498080" cy="411480"/>
          </a:xfrm>
          <a:prstGeom prst="rect">
            <a:avLst/>
          </a:prstGeom>
          <a:noFill/>
          <a:ln/>
        </p:spPr>
        <p:txBody>
          <a:bodyPr wrap="square" lIns="0" tIns="0" rIns="0" bIns="0" rtlCol="0" anchor="ctr"/>
          <a:lstStyle/>
          <a:p>
            <a:pPr indent="0" marL="0">
              <a:buNone/>
            </a:pPr>
            <a:r>
              <a:rPr lang="en-US" sz="1300" dirty="0">
                <a:solidFill>
                  <a:srgbClr val="374151"/>
                </a:solidFill>
                <a:latin typeface="Yu Gothic" pitchFamily="34" charset="0"/>
                <a:ea typeface="Yu Gothic" pitchFamily="34" charset="-122"/>
                <a:cs typeface="Yu Gothic" pitchFamily="34" charset="-120"/>
              </a:rPr>
              <a:t>相手は、何があると安心するのか</a:t>
            </a:r>
            <a:endParaRPr lang="en-US" sz="1300" dirty="0"/>
          </a:p>
        </p:txBody>
      </p:sp>
      <p:sp>
        <p:nvSpPr>
          <p:cNvPr id="9" name="Shape 7"/>
          <p:cNvSpPr/>
          <p:nvPr/>
        </p:nvSpPr>
        <p:spPr>
          <a:xfrm>
            <a:off x="640080" y="3063240"/>
            <a:ext cx="36576" cy="320040"/>
          </a:xfrm>
          <a:prstGeom prst="rect">
            <a:avLst/>
          </a:prstGeom>
          <a:solidFill>
            <a:srgbClr val="1E2761"/>
          </a:solidFill>
          <a:ln/>
        </p:spPr>
      </p:sp>
      <p:sp>
        <p:nvSpPr>
          <p:cNvPr id="10" name="Text 8"/>
          <p:cNvSpPr/>
          <p:nvPr/>
        </p:nvSpPr>
        <p:spPr>
          <a:xfrm>
            <a:off x="777240" y="3026664"/>
            <a:ext cx="7498080" cy="411480"/>
          </a:xfrm>
          <a:prstGeom prst="rect">
            <a:avLst/>
          </a:prstGeom>
          <a:noFill/>
          <a:ln/>
        </p:spPr>
        <p:txBody>
          <a:bodyPr wrap="square" lIns="0" tIns="0" rIns="0" bIns="0" rtlCol="0" anchor="ctr"/>
          <a:lstStyle/>
          <a:p>
            <a:pPr indent="0" marL="0">
              <a:buNone/>
            </a:pPr>
            <a:r>
              <a:rPr lang="en-US" sz="1300" dirty="0">
                <a:solidFill>
                  <a:srgbClr val="374151"/>
                </a:solidFill>
                <a:latin typeface="Yu Gothic" pitchFamily="34" charset="0"/>
                <a:ea typeface="Yu Gothic" pitchFamily="34" charset="-122"/>
                <a:cs typeface="Yu Gothic" pitchFamily="34" charset="-120"/>
              </a:rPr>
              <a:t>どんな関わり方をされると、大切にされていると感じるのか</a:t>
            </a:r>
            <a:endParaRPr lang="en-US" sz="1300" dirty="0"/>
          </a:p>
        </p:txBody>
      </p:sp>
      <p:sp>
        <p:nvSpPr>
          <p:cNvPr id="11" name="Shape 9"/>
          <p:cNvSpPr/>
          <p:nvPr/>
        </p:nvSpPr>
        <p:spPr>
          <a:xfrm>
            <a:off x="640080" y="3520440"/>
            <a:ext cx="36576" cy="320040"/>
          </a:xfrm>
          <a:prstGeom prst="rect">
            <a:avLst/>
          </a:prstGeom>
          <a:solidFill>
            <a:srgbClr val="1E2761"/>
          </a:solidFill>
          <a:ln/>
        </p:spPr>
      </p:sp>
      <p:sp>
        <p:nvSpPr>
          <p:cNvPr id="12" name="Text 10"/>
          <p:cNvSpPr/>
          <p:nvPr/>
        </p:nvSpPr>
        <p:spPr>
          <a:xfrm>
            <a:off x="777240" y="3483864"/>
            <a:ext cx="7498080" cy="411480"/>
          </a:xfrm>
          <a:prstGeom prst="rect">
            <a:avLst/>
          </a:prstGeom>
          <a:noFill/>
          <a:ln/>
        </p:spPr>
        <p:txBody>
          <a:bodyPr wrap="square" lIns="0" tIns="0" rIns="0" bIns="0" rtlCol="0" anchor="ctr"/>
          <a:lstStyle/>
          <a:p>
            <a:pPr indent="0" marL="0">
              <a:buNone/>
            </a:pPr>
            <a:r>
              <a:rPr lang="en-US" sz="1300" dirty="0">
                <a:solidFill>
                  <a:srgbClr val="374151"/>
                </a:solidFill>
                <a:latin typeface="Yu Gothic" pitchFamily="34" charset="0"/>
                <a:ea typeface="Yu Gothic" pitchFamily="34" charset="-122"/>
                <a:cs typeface="Yu Gothic" pitchFamily="34" charset="-120"/>
              </a:rPr>
              <a:t>何を言葉にしてもらえると満たされるのか</a:t>
            </a:r>
            <a:endParaRPr lang="en-US" sz="1300" dirty="0"/>
          </a:p>
        </p:txBody>
      </p:sp>
      <p:sp>
        <p:nvSpPr>
          <p:cNvPr id="13" name="Shape 11"/>
          <p:cNvSpPr/>
          <p:nvPr/>
        </p:nvSpPr>
        <p:spPr>
          <a:xfrm>
            <a:off x="640080" y="3977640"/>
            <a:ext cx="36576" cy="320040"/>
          </a:xfrm>
          <a:prstGeom prst="rect">
            <a:avLst/>
          </a:prstGeom>
          <a:solidFill>
            <a:srgbClr val="1E2761"/>
          </a:solidFill>
          <a:ln/>
        </p:spPr>
      </p:sp>
      <p:sp>
        <p:nvSpPr>
          <p:cNvPr id="14" name="Text 12"/>
          <p:cNvSpPr/>
          <p:nvPr/>
        </p:nvSpPr>
        <p:spPr>
          <a:xfrm>
            <a:off x="777240" y="3941064"/>
            <a:ext cx="7498080" cy="411480"/>
          </a:xfrm>
          <a:prstGeom prst="rect">
            <a:avLst/>
          </a:prstGeom>
          <a:noFill/>
          <a:ln/>
        </p:spPr>
        <p:txBody>
          <a:bodyPr wrap="square" lIns="0" tIns="0" rIns="0" bIns="0" rtlCol="0" anchor="ctr"/>
          <a:lstStyle/>
          <a:p>
            <a:pPr indent="0" marL="0">
              <a:buNone/>
            </a:pPr>
            <a:r>
              <a:rPr lang="en-US" sz="1300" dirty="0">
                <a:solidFill>
                  <a:srgbClr val="374151"/>
                </a:solidFill>
                <a:latin typeface="Yu Gothic" pitchFamily="34" charset="0"/>
                <a:ea typeface="Yu Gothic" pitchFamily="34" charset="-122"/>
                <a:cs typeface="Yu Gothic" pitchFamily="34" charset="-120"/>
              </a:rPr>
              <a:t>どんな未来を、一緒に見たいのか</a:t>
            </a:r>
            <a:endParaRPr lang="en-US" sz="1300" dirty="0"/>
          </a:p>
        </p:txBody>
      </p:sp>
      <p:sp>
        <p:nvSpPr>
          <p:cNvPr id="15" name="Text 13"/>
          <p:cNvSpPr/>
          <p:nvPr/>
        </p:nvSpPr>
        <p:spPr>
          <a:xfrm>
            <a:off x="457200" y="4800600"/>
            <a:ext cx="4572000" cy="274320"/>
          </a:xfrm>
          <a:prstGeom prst="rect">
            <a:avLst/>
          </a:prstGeom>
          <a:noFill/>
          <a:ln/>
        </p:spPr>
        <p:txBody>
          <a:bodyPr wrap="square" lIns="0" tIns="0" rIns="0" bIns="0" rtlCol="0" anchor="ctr"/>
          <a:lstStyle/>
          <a:p>
            <a:pPr algn="l" indent="0" marL="0">
              <a:buNone/>
            </a:pPr>
            <a:r>
              <a:rPr lang="en-US" sz="900" spc="200" kern="0" dirty="0">
                <a:solidFill>
                  <a:srgbClr val="6B7280"/>
                </a:solidFill>
                <a:latin typeface="Yu Gothic" pitchFamily="34" charset="0"/>
                <a:ea typeface="Yu Gothic" pitchFamily="34" charset="-122"/>
                <a:cs typeface="Yu Gothic" pitchFamily="34" charset="-120"/>
              </a:rPr>
              <a:t>結婚前 Give&amp;Take マネジメント</a:t>
            </a:r>
            <a:endParaRPr lang="en-US" sz="900" dirty="0"/>
          </a:p>
        </p:txBody>
      </p:sp>
      <p:sp>
        <p:nvSpPr>
          <p:cNvPr id="16" name="Text 14"/>
          <p:cNvSpPr/>
          <p:nvPr/>
        </p:nvSpPr>
        <p:spPr>
          <a:xfrm>
            <a:off x="7955280" y="4800600"/>
            <a:ext cx="1005840" cy="274320"/>
          </a:xfrm>
          <a:prstGeom prst="rect">
            <a:avLst/>
          </a:prstGeom>
          <a:noFill/>
          <a:ln/>
        </p:spPr>
        <p:txBody>
          <a:bodyPr wrap="square" lIns="0" tIns="0" rIns="0" bIns="0"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09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64008" cy="457200"/>
          </a:xfrm>
          <a:prstGeom prst="rect">
            <a:avLst/>
          </a:prstGeom>
          <a:solidFill>
            <a:srgbClr val="1E2761"/>
          </a:solidFill>
          <a:ln/>
        </p:spPr>
      </p:sp>
      <p:sp>
        <p:nvSpPr>
          <p:cNvPr id="3" name="Text 1"/>
          <p:cNvSpPr/>
          <p:nvPr/>
        </p:nvSpPr>
        <p:spPr>
          <a:xfrm>
            <a:off x="640080" y="411480"/>
            <a:ext cx="8046720" cy="502920"/>
          </a:xfrm>
          <a:prstGeom prst="rect">
            <a:avLst/>
          </a:prstGeom>
          <a:noFill/>
          <a:ln/>
        </p:spPr>
        <p:txBody>
          <a:bodyPr wrap="square" lIns="0" tIns="0" rIns="0" bIns="0" rtlCol="0" anchor="ctr"/>
          <a:lstStyle/>
          <a:p>
            <a:pPr indent="0" marL="0">
              <a:buNone/>
            </a:pPr>
            <a:r>
              <a:rPr lang="en-US" sz="2600" b="1" dirty="0">
                <a:solidFill>
                  <a:srgbClr val="1F2937"/>
                </a:solidFill>
                <a:latin typeface="Yu Gothic" pitchFamily="34" charset="0"/>
                <a:ea typeface="Yu Gothic" pitchFamily="34" charset="-122"/>
                <a:cs typeface="Yu Gothic" pitchFamily="34" charset="-120"/>
              </a:rPr>
              <a:t>解決策 ② ③</a:t>
            </a:r>
            <a:endParaRPr lang="en-US" sz="2600" dirty="0"/>
          </a:p>
        </p:txBody>
      </p:sp>
      <p:sp>
        <p:nvSpPr>
          <p:cNvPr id="4" name="Text 2"/>
          <p:cNvSpPr/>
          <p:nvPr/>
        </p:nvSpPr>
        <p:spPr>
          <a:xfrm>
            <a:off x="640080" y="914400"/>
            <a:ext cx="8046720" cy="320040"/>
          </a:xfrm>
          <a:prstGeom prst="rect">
            <a:avLst/>
          </a:prstGeom>
          <a:noFill/>
          <a:ln/>
        </p:spPr>
        <p:txBody>
          <a:bodyPr wrap="square" lIns="0" tIns="0" rIns="0" bIns="0" rtlCol="0" anchor="ctr"/>
          <a:lstStyle/>
          <a:p>
            <a:pPr indent="0" marL="0">
              <a:buNone/>
            </a:pPr>
            <a:r>
              <a:rPr lang="en-US" sz="1200" spc="200" kern="0" dirty="0">
                <a:solidFill>
                  <a:srgbClr val="6B7280"/>
                </a:solidFill>
                <a:latin typeface="Yu Gothic" pitchFamily="34" charset="0"/>
                <a:ea typeface="Yu Gothic" pitchFamily="34" charset="-122"/>
                <a:cs typeface="Yu Gothic" pitchFamily="34" charset="-120"/>
              </a:rPr>
              <a:t>SOLUTION 02 / 03</a:t>
            </a:r>
            <a:endParaRPr lang="en-US" sz="1200" dirty="0"/>
          </a:p>
        </p:txBody>
      </p:sp>
      <p:sp>
        <p:nvSpPr>
          <p:cNvPr id="5" name="Shape 3"/>
          <p:cNvSpPr/>
          <p:nvPr/>
        </p:nvSpPr>
        <p:spPr>
          <a:xfrm>
            <a:off x="457200" y="1417320"/>
            <a:ext cx="4023360" cy="3246120"/>
          </a:xfrm>
          <a:prstGeom prst="rect">
            <a:avLst/>
          </a:prstGeom>
          <a:solidFill>
            <a:srgbClr val="FAFBFD"/>
          </a:solidFill>
          <a:ln w="9525">
            <a:solidFill>
              <a:srgbClr val="E5E7EB"/>
            </a:solidFill>
            <a:prstDash val="solid"/>
          </a:ln>
        </p:spPr>
      </p:sp>
      <p:sp>
        <p:nvSpPr>
          <p:cNvPr id="6" name="Shape 4"/>
          <p:cNvSpPr/>
          <p:nvPr/>
        </p:nvSpPr>
        <p:spPr>
          <a:xfrm>
            <a:off x="457200" y="1417320"/>
            <a:ext cx="4023360" cy="45720"/>
          </a:xfrm>
          <a:prstGeom prst="rect">
            <a:avLst/>
          </a:prstGeom>
          <a:solidFill>
            <a:srgbClr val="1E2761"/>
          </a:solidFill>
          <a:ln/>
        </p:spPr>
      </p:sp>
      <p:sp>
        <p:nvSpPr>
          <p:cNvPr id="7" name="Text 5"/>
          <p:cNvSpPr/>
          <p:nvPr/>
        </p:nvSpPr>
        <p:spPr>
          <a:xfrm>
            <a:off x="731520" y="1600200"/>
            <a:ext cx="914400"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Yu Gothic" pitchFamily="34" charset="0"/>
                <a:ea typeface="Yu Gothic" pitchFamily="34" charset="-122"/>
                <a:cs typeface="Yu Gothic" pitchFamily="34" charset="-120"/>
              </a:rPr>
              <a:t>02</a:t>
            </a:r>
            <a:endParaRPr lang="en-US" sz="1100" dirty="0"/>
          </a:p>
        </p:txBody>
      </p:sp>
      <p:sp>
        <p:nvSpPr>
          <p:cNvPr id="8" name="Text 6"/>
          <p:cNvSpPr/>
          <p:nvPr/>
        </p:nvSpPr>
        <p:spPr>
          <a:xfrm>
            <a:off x="731520" y="1874520"/>
            <a:ext cx="3474720" cy="457200"/>
          </a:xfrm>
          <a:prstGeom prst="rect">
            <a:avLst/>
          </a:prstGeom>
          <a:noFill/>
          <a:ln/>
        </p:spPr>
        <p:txBody>
          <a:bodyPr wrap="square" lIns="0" tIns="0" rIns="0" bIns="0" rtlCol="0" anchor="ctr"/>
          <a:lstStyle/>
          <a:p>
            <a:pPr indent="0" marL="0">
              <a:buNone/>
            </a:pPr>
            <a:r>
              <a:rPr lang="en-US" sz="1600" b="1" dirty="0">
                <a:solidFill>
                  <a:srgbClr val="1F2937"/>
                </a:solidFill>
                <a:latin typeface="Yu Gothic" pitchFamily="34" charset="0"/>
                <a:ea typeface="Yu Gothic" pitchFamily="34" charset="-122"/>
                <a:cs typeface="Yu Gothic" pitchFamily="34" charset="-120"/>
              </a:rPr>
              <a:t>お互いの未来を設計する</a:t>
            </a:r>
            <a:endParaRPr lang="en-US" sz="1600" dirty="0"/>
          </a:p>
        </p:txBody>
      </p:sp>
      <p:sp>
        <p:nvSpPr>
          <p:cNvPr id="9" name="Text 7"/>
          <p:cNvSpPr/>
          <p:nvPr/>
        </p:nvSpPr>
        <p:spPr>
          <a:xfrm>
            <a:off x="731520" y="2377440"/>
            <a:ext cx="3474720" cy="411480"/>
          </a:xfrm>
          <a:prstGeom prst="rect">
            <a:avLst/>
          </a:prstGeom>
          <a:noFill/>
          <a:ln/>
        </p:spPr>
        <p:txBody>
          <a:bodyPr wrap="square" lIns="0" tIns="0" rIns="0" bIns="0" rtlCol="0" anchor="ctr"/>
          <a:lstStyle/>
          <a:p>
            <a:pPr indent="0" marL="0">
              <a:buNone/>
            </a:pPr>
            <a:r>
              <a:rPr lang="en-US" sz="1150" dirty="0">
                <a:solidFill>
                  <a:srgbClr val="6B7280"/>
                </a:solidFill>
                <a:latin typeface="Yu Gothic" pitchFamily="34" charset="0"/>
                <a:ea typeface="Yu Gothic" pitchFamily="34" charset="-122"/>
                <a:cs typeface="Yu Gothic" pitchFamily="34" charset="-120"/>
              </a:rPr>
              <a:t>ルール決めではなく、ふたりの人生の設計図を共有する。</a:t>
            </a:r>
            <a:endParaRPr lang="en-US" sz="1150" dirty="0"/>
          </a:p>
        </p:txBody>
      </p:sp>
      <p:sp>
        <p:nvSpPr>
          <p:cNvPr id="10" name="Text 8"/>
          <p:cNvSpPr/>
          <p:nvPr/>
        </p:nvSpPr>
        <p:spPr>
          <a:xfrm>
            <a:off x="731520" y="2926080"/>
            <a:ext cx="3474720" cy="169164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374151"/>
                </a:solidFill>
                <a:latin typeface="Yu Gothic" pitchFamily="34" charset="0"/>
                <a:ea typeface="Yu Gothic" pitchFamily="34" charset="-122"/>
                <a:cs typeface="Yu Gothic" pitchFamily="34" charset="-120"/>
              </a:rPr>
              <a:t>どんな夫婦・家庭でいたいか</a:t>
            </a:r>
            <a:endParaRPr lang="en-US" sz="1150" dirty="0"/>
          </a:p>
          <a:p>
            <a:pPr marL="342900" indent="-342900">
              <a:spcAft>
                <a:spcPts val="400"/>
              </a:spcAft>
              <a:buSzPct val="100000"/>
              <a:buChar char="■"/>
            </a:pPr>
            <a:r>
              <a:rPr lang="en-US" sz="1150" dirty="0">
                <a:solidFill>
                  <a:srgbClr val="374151"/>
                </a:solidFill>
                <a:latin typeface="Yu Gothic" pitchFamily="34" charset="0"/>
                <a:ea typeface="Yu Gothic" pitchFamily="34" charset="-122"/>
                <a:cs typeface="Yu Gothic" pitchFamily="34" charset="-120"/>
              </a:rPr>
              <a:t>仕事と家庭をどう両立するか</a:t>
            </a:r>
            <a:endParaRPr lang="en-US" sz="1150" dirty="0"/>
          </a:p>
          <a:p>
            <a:pPr marL="342900" indent="-342900">
              <a:spcAft>
                <a:spcPts val="400"/>
              </a:spcAft>
              <a:buSzPct val="100000"/>
              <a:buChar char="■"/>
            </a:pPr>
            <a:r>
              <a:rPr lang="en-US" sz="1150" dirty="0">
                <a:solidFill>
                  <a:srgbClr val="374151"/>
                </a:solidFill>
                <a:latin typeface="Yu Gothic" pitchFamily="34" charset="0"/>
                <a:ea typeface="Yu Gothic" pitchFamily="34" charset="-122"/>
                <a:cs typeface="Yu Gothic" pitchFamily="34" charset="-120"/>
              </a:rPr>
              <a:t>忙しい時期にどう支え合うか</a:t>
            </a:r>
            <a:endParaRPr lang="en-US" sz="1150" dirty="0"/>
          </a:p>
          <a:p>
            <a:pPr marL="342900" indent="-342900">
              <a:spcAft>
                <a:spcPts val="400"/>
              </a:spcAft>
              <a:buSzPct val="100000"/>
              <a:buChar char="■"/>
            </a:pPr>
            <a:r>
              <a:rPr lang="en-US" sz="1150" dirty="0">
                <a:solidFill>
                  <a:srgbClr val="374151"/>
                </a:solidFill>
                <a:latin typeface="Yu Gothic" pitchFamily="34" charset="0"/>
                <a:ea typeface="Yu Gothic" pitchFamily="34" charset="-122"/>
                <a:cs typeface="Yu Gothic" pitchFamily="34" charset="-120"/>
              </a:rPr>
              <a:t>お金・子ども・親との関係</a:t>
            </a:r>
            <a:endParaRPr lang="en-US" sz="1150" dirty="0"/>
          </a:p>
          <a:p>
            <a:pPr marL="342900" indent="-342900">
              <a:spcAft>
                <a:spcPts val="400"/>
              </a:spcAft>
              <a:buSzPct val="100000"/>
              <a:buChar char="■"/>
            </a:pPr>
            <a:r>
              <a:rPr lang="en-US" sz="1150" dirty="0">
                <a:solidFill>
                  <a:srgbClr val="374151"/>
                </a:solidFill>
                <a:latin typeface="Yu Gothic" pitchFamily="34" charset="0"/>
                <a:ea typeface="Yu Gothic" pitchFamily="34" charset="-122"/>
                <a:cs typeface="Yu Gothic" pitchFamily="34" charset="-120"/>
              </a:rPr>
              <a:t>お互いがどんな状態だと幸せか</a:t>
            </a:r>
            <a:endParaRPr lang="en-US" sz="1150" dirty="0"/>
          </a:p>
        </p:txBody>
      </p:sp>
      <p:sp>
        <p:nvSpPr>
          <p:cNvPr id="11" name="Shape 9"/>
          <p:cNvSpPr/>
          <p:nvPr/>
        </p:nvSpPr>
        <p:spPr>
          <a:xfrm>
            <a:off x="4663440" y="1417320"/>
            <a:ext cx="4023360" cy="3246120"/>
          </a:xfrm>
          <a:prstGeom prst="rect">
            <a:avLst/>
          </a:prstGeom>
          <a:solidFill>
            <a:srgbClr val="FAFBFD"/>
          </a:solidFill>
          <a:ln w="9525">
            <a:solidFill>
              <a:srgbClr val="E5E7EB"/>
            </a:solidFill>
            <a:prstDash val="solid"/>
          </a:ln>
        </p:spPr>
      </p:sp>
      <p:sp>
        <p:nvSpPr>
          <p:cNvPr id="12" name="Shape 10"/>
          <p:cNvSpPr/>
          <p:nvPr/>
        </p:nvSpPr>
        <p:spPr>
          <a:xfrm>
            <a:off x="4663440" y="1417320"/>
            <a:ext cx="4023360" cy="45720"/>
          </a:xfrm>
          <a:prstGeom prst="rect">
            <a:avLst/>
          </a:prstGeom>
          <a:solidFill>
            <a:srgbClr val="1E2761"/>
          </a:solidFill>
          <a:ln/>
        </p:spPr>
      </p:sp>
      <p:sp>
        <p:nvSpPr>
          <p:cNvPr id="13" name="Text 11"/>
          <p:cNvSpPr/>
          <p:nvPr/>
        </p:nvSpPr>
        <p:spPr>
          <a:xfrm>
            <a:off x="4937760" y="1600200"/>
            <a:ext cx="914400" cy="274320"/>
          </a:xfrm>
          <a:prstGeom prst="rect">
            <a:avLst/>
          </a:prstGeom>
          <a:noFill/>
          <a:ln/>
        </p:spPr>
        <p:txBody>
          <a:bodyPr wrap="square" lIns="0" tIns="0" rIns="0" bIns="0" rtlCol="0" anchor="ctr"/>
          <a:lstStyle/>
          <a:p>
            <a:pPr indent="0" marL="0">
              <a:buNone/>
            </a:pPr>
            <a:r>
              <a:rPr lang="en-US" sz="1100" b="1" spc="200" kern="0" dirty="0">
                <a:solidFill>
                  <a:srgbClr val="1E2761"/>
                </a:solidFill>
                <a:latin typeface="Yu Gothic" pitchFamily="34" charset="0"/>
                <a:ea typeface="Yu Gothic" pitchFamily="34" charset="-122"/>
                <a:cs typeface="Yu Gothic" pitchFamily="34" charset="-120"/>
              </a:rPr>
              <a:t>03</a:t>
            </a:r>
            <a:endParaRPr lang="en-US" sz="1100" dirty="0"/>
          </a:p>
        </p:txBody>
      </p:sp>
      <p:sp>
        <p:nvSpPr>
          <p:cNvPr id="14" name="Text 12"/>
          <p:cNvSpPr/>
          <p:nvPr/>
        </p:nvSpPr>
        <p:spPr>
          <a:xfrm>
            <a:off x="4937760" y="1874520"/>
            <a:ext cx="3474720" cy="457200"/>
          </a:xfrm>
          <a:prstGeom prst="rect">
            <a:avLst/>
          </a:prstGeom>
          <a:noFill/>
          <a:ln/>
        </p:spPr>
        <p:txBody>
          <a:bodyPr wrap="square" lIns="0" tIns="0" rIns="0" bIns="0" rtlCol="0" anchor="ctr"/>
          <a:lstStyle/>
          <a:p>
            <a:pPr indent="0" marL="0">
              <a:buNone/>
            </a:pPr>
            <a:r>
              <a:rPr lang="en-US" sz="1600" b="1" dirty="0">
                <a:solidFill>
                  <a:srgbClr val="1F2937"/>
                </a:solidFill>
                <a:latin typeface="Yu Gothic" pitchFamily="34" charset="0"/>
                <a:ea typeface="Yu Gothic" pitchFamily="34" charset="-122"/>
                <a:cs typeface="Yu Gothic" pitchFamily="34" charset="-120"/>
              </a:rPr>
              <a:t>戻る場所としての関係性を言葉にする</a:t>
            </a:r>
            <a:endParaRPr lang="en-US" sz="1600" dirty="0"/>
          </a:p>
        </p:txBody>
      </p:sp>
      <p:sp>
        <p:nvSpPr>
          <p:cNvPr id="15" name="Text 13"/>
          <p:cNvSpPr/>
          <p:nvPr/>
        </p:nvSpPr>
        <p:spPr>
          <a:xfrm>
            <a:off x="4937760" y="2377440"/>
            <a:ext cx="3474720" cy="411480"/>
          </a:xfrm>
          <a:prstGeom prst="rect">
            <a:avLst/>
          </a:prstGeom>
          <a:noFill/>
          <a:ln/>
        </p:spPr>
        <p:txBody>
          <a:bodyPr wrap="square" lIns="0" tIns="0" rIns="0" bIns="0" rtlCol="0" anchor="ctr"/>
          <a:lstStyle/>
          <a:p>
            <a:pPr indent="0" marL="0">
              <a:buNone/>
            </a:pPr>
            <a:r>
              <a:rPr lang="en-US" sz="1150" dirty="0">
                <a:solidFill>
                  <a:srgbClr val="6B7280"/>
                </a:solidFill>
                <a:latin typeface="Yu Gothic" pitchFamily="34" charset="0"/>
                <a:ea typeface="Yu Gothic" pitchFamily="34" charset="-122"/>
                <a:cs typeface="Yu Gothic" pitchFamily="34" charset="-120"/>
              </a:rPr>
              <a:t>問題が起きたときに戻れる、ふたりの共通認識をつくる。</a:t>
            </a:r>
            <a:endParaRPr lang="en-US" sz="1150" dirty="0"/>
          </a:p>
        </p:txBody>
      </p:sp>
      <p:sp>
        <p:nvSpPr>
          <p:cNvPr id="16" name="Text 14"/>
          <p:cNvSpPr/>
          <p:nvPr/>
        </p:nvSpPr>
        <p:spPr>
          <a:xfrm>
            <a:off x="4937760" y="2926080"/>
            <a:ext cx="3474720" cy="169164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374151"/>
                </a:solidFill>
                <a:latin typeface="Yu Gothic" pitchFamily="34" charset="0"/>
                <a:ea typeface="Yu Gothic" pitchFamily="34" charset="-122"/>
                <a:cs typeface="Yu Gothic" pitchFamily="34" charset="-120"/>
              </a:rPr>
              <a:t>支え合い、応援し合う関係</a:t>
            </a:r>
            <a:endParaRPr lang="en-US" sz="1150" dirty="0"/>
          </a:p>
          <a:p>
            <a:pPr marL="342900" indent="-342900">
              <a:spcAft>
                <a:spcPts val="400"/>
              </a:spcAft>
              <a:buSzPct val="100000"/>
              <a:buChar char="■"/>
            </a:pPr>
            <a:r>
              <a:rPr lang="en-US" sz="1150" dirty="0">
                <a:solidFill>
                  <a:srgbClr val="374151"/>
                </a:solidFill>
                <a:latin typeface="Yu Gothic" pitchFamily="34" charset="0"/>
                <a:ea typeface="Yu Gothic" pitchFamily="34" charset="-122"/>
                <a:cs typeface="Yu Gothic" pitchFamily="34" charset="-120"/>
              </a:rPr>
              <a:t>対等に話し合える関係</a:t>
            </a:r>
            <a:endParaRPr lang="en-US" sz="1150" dirty="0"/>
          </a:p>
          <a:p>
            <a:pPr marL="342900" indent="-342900">
              <a:spcAft>
                <a:spcPts val="400"/>
              </a:spcAft>
              <a:buSzPct val="100000"/>
              <a:buChar char="■"/>
            </a:pPr>
            <a:r>
              <a:rPr lang="en-US" sz="1150" dirty="0">
                <a:solidFill>
                  <a:srgbClr val="374151"/>
                </a:solidFill>
                <a:latin typeface="Yu Gothic" pitchFamily="34" charset="0"/>
                <a:ea typeface="Yu Gothic" pitchFamily="34" charset="-122"/>
                <a:cs typeface="Yu Gothic" pitchFamily="34" charset="-120"/>
              </a:rPr>
              <a:t>弱さを安心して出せる関係</a:t>
            </a:r>
            <a:endParaRPr lang="en-US" sz="1150" dirty="0"/>
          </a:p>
          <a:p>
            <a:pPr marL="342900" indent="-342900">
              <a:spcAft>
                <a:spcPts val="400"/>
              </a:spcAft>
              <a:buSzPct val="100000"/>
              <a:buChar char="■"/>
            </a:pPr>
            <a:r>
              <a:rPr lang="en-US" sz="1150" dirty="0">
                <a:solidFill>
                  <a:srgbClr val="374151"/>
                </a:solidFill>
                <a:latin typeface="Yu Gothic" pitchFamily="34" charset="0"/>
                <a:ea typeface="Yu Gothic" pitchFamily="34" charset="-122"/>
                <a:cs typeface="Yu Gothic" pitchFamily="34" charset="-120"/>
              </a:rPr>
              <a:t>感謝を言葉にできる関係</a:t>
            </a:r>
            <a:endParaRPr lang="en-US" sz="1150" dirty="0"/>
          </a:p>
          <a:p>
            <a:pPr marL="342900" indent="-342900">
              <a:spcAft>
                <a:spcPts val="400"/>
              </a:spcAft>
              <a:buSzPct val="100000"/>
              <a:buChar char="■"/>
            </a:pPr>
            <a:r>
              <a:rPr lang="en-US" sz="1150" dirty="0">
                <a:solidFill>
                  <a:srgbClr val="374151"/>
                </a:solidFill>
                <a:latin typeface="Yu Gothic" pitchFamily="34" charset="0"/>
                <a:ea typeface="Yu Gothic" pitchFamily="34" charset="-122"/>
                <a:cs typeface="Yu Gothic" pitchFamily="34" charset="-120"/>
              </a:rPr>
              <a:t>敵にならず、人生のチームでいる</a:t>
            </a:r>
            <a:endParaRPr lang="en-US" sz="1150" dirty="0"/>
          </a:p>
        </p:txBody>
      </p:sp>
      <p:sp>
        <p:nvSpPr>
          <p:cNvPr id="17" name="Text 15"/>
          <p:cNvSpPr/>
          <p:nvPr/>
        </p:nvSpPr>
        <p:spPr>
          <a:xfrm>
            <a:off x="457200" y="4800600"/>
            <a:ext cx="4572000" cy="274320"/>
          </a:xfrm>
          <a:prstGeom prst="rect">
            <a:avLst/>
          </a:prstGeom>
          <a:noFill/>
          <a:ln/>
        </p:spPr>
        <p:txBody>
          <a:bodyPr wrap="square" lIns="0" tIns="0" rIns="0" bIns="0" rtlCol="0" anchor="ctr"/>
          <a:lstStyle/>
          <a:p>
            <a:pPr algn="l" indent="0" marL="0">
              <a:buNone/>
            </a:pPr>
            <a:r>
              <a:rPr lang="en-US" sz="900" spc="200" kern="0" dirty="0">
                <a:solidFill>
                  <a:srgbClr val="6B7280"/>
                </a:solidFill>
                <a:latin typeface="Yu Gothic" pitchFamily="34" charset="0"/>
                <a:ea typeface="Yu Gothic" pitchFamily="34" charset="-122"/>
                <a:cs typeface="Yu Gothic" pitchFamily="34" charset="-120"/>
              </a:rPr>
              <a:t>結婚前 Give&amp;Take マネジメント</a:t>
            </a:r>
            <a:endParaRPr lang="en-US" sz="900" dirty="0"/>
          </a:p>
        </p:txBody>
      </p:sp>
      <p:sp>
        <p:nvSpPr>
          <p:cNvPr id="18" name="Text 16"/>
          <p:cNvSpPr/>
          <p:nvPr/>
        </p:nvSpPr>
        <p:spPr>
          <a:xfrm>
            <a:off x="7955280" y="4800600"/>
            <a:ext cx="1005840" cy="274320"/>
          </a:xfrm>
          <a:prstGeom prst="rect">
            <a:avLst/>
          </a:prstGeom>
          <a:noFill/>
          <a:ln/>
        </p:spPr>
        <p:txBody>
          <a:bodyPr wrap="square" lIns="0" tIns="0" rIns="0" bIns="0"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64008" cy="457200"/>
          </a:xfrm>
          <a:prstGeom prst="rect">
            <a:avLst/>
          </a:prstGeom>
          <a:solidFill>
            <a:srgbClr val="1E2761"/>
          </a:solidFill>
          <a:ln/>
        </p:spPr>
      </p:sp>
      <p:sp>
        <p:nvSpPr>
          <p:cNvPr id="3" name="Text 1"/>
          <p:cNvSpPr/>
          <p:nvPr/>
        </p:nvSpPr>
        <p:spPr>
          <a:xfrm>
            <a:off x="640080" y="411480"/>
            <a:ext cx="8046720" cy="502920"/>
          </a:xfrm>
          <a:prstGeom prst="rect">
            <a:avLst/>
          </a:prstGeom>
          <a:noFill/>
          <a:ln/>
        </p:spPr>
        <p:txBody>
          <a:bodyPr wrap="square" lIns="0" tIns="0" rIns="0" bIns="0" rtlCol="0" anchor="ctr"/>
          <a:lstStyle/>
          <a:p>
            <a:pPr indent="0" marL="0">
              <a:buNone/>
            </a:pPr>
            <a:r>
              <a:rPr lang="en-US" sz="2600" b="1" dirty="0">
                <a:solidFill>
                  <a:srgbClr val="1F2937"/>
                </a:solidFill>
                <a:latin typeface="Yu Gothic" pitchFamily="34" charset="0"/>
                <a:ea typeface="Yu Gothic" pitchFamily="34" charset="-122"/>
                <a:cs typeface="Yu Gothic" pitchFamily="34" charset="-120"/>
              </a:rPr>
              <a:t>コンサルで扱う5つの内容</a:t>
            </a:r>
            <a:endParaRPr lang="en-US" sz="2600" dirty="0"/>
          </a:p>
        </p:txBody>
      </p:sp>
      <p:sp>
        <p:nvSpPr>
          <p:cNvPr id="4" name="Text 2"/>
          <p:cNvSpPr/>
          <p:nvPr/>
        </p:nvSpPr>
        <p:spPr>
          <a:xfrm>
            <a:off x="640080" y="914400"/>
            <a:ext cx="8046720" cy="320040"/>
          </a:xfrm>
          <a:prstGeom prst="rect">
            <a:avLst/>
          </a:prstGeom>
          <a:noFill/>
          <a:ln/>
        </p:spPr>
        <p:txBody>
          <a:bodyPr wrap="square" lIns="0" tIns="0" rIns="0" bIns="0" rtlCol="0" anchor="ctr"/>
          <a:lstStyle/>
          <a:p>
            <a:pPr indent="0" marL="0">
              <a:buNone/>
            </a:pPr>
            <a:r>
              <a:rPr lang="en-US" sz="1200" spc="200" kern="0" dirty="0">
                <a:solidFill>
                  <a:srgbClr val="6B7280"/>
                </a:solidFill>
                <a:latin typeface="Yu Gothic" pitchFamily="34" charset="0"/>
                <a:ea typeface="Yu Gothic" pitchFamily="34" charset="-122"/>
                <a:cs typeface="Yu Gothic" pitchFamily="34" charset="-120"/>
              </a:rPr>
              <a:t>WHAT WE COVER</a:t>
            </a:r>
            <a:endParaRPr lang="en-US" sz="1200" dirty="0"/>
          </a:p>
        </p:txBody>
      </p:sp>
      <p:sp>
        <p:nvSpPr>
          <p:cNvPr id="5" name="Shape 3"/>
          <p:cNvSpPr/>
          <p:nvPr/>
        </p:nvSpPr>
        <p:spPr>
          <a:xfrm>
            <a:off x="457200" y="1417320"/>
            <a:ext cx="777240" cy="502920"/>
          </a:xfrm>
          <a:prstGeom prst="rect">
            <a:avLst/>
          </a:prstGeom>
          <a:solidFill>
            <a:srgbClr val="1E2761"/>
          </a:solidFill>
          <a:ln/>
        </p:spPr>
      </p:sp>
      <p:sp>
        <p:nvSpPr>
          <p:cNvPr id="6" name="Text 4"/>
          <p:cNvSpPr/>
          <p:nvPr/>
        </p:nvSpPr>
        <p:spPr>
          <a:xfrm>
            <a:off x="457200" y="1417320"/>
            <a:ext cx="777240" cy="502920"/>
          </a:xfrm>
          <a:prstGeom prst="rect">
            <a:avLst/>
          </a:prstGeom>
          <a:noFill/>
          <a:ln/>
        </p:spPr>
        <p:txBody>
          <a:bodyPr wrap="square" lIns="0" tIns="0" rIns="0" bIns="0" rtlCol="0" anchor="ctr"/>
          <a:lstStyle/>
          <a:p>
            <a:pPr algn="ctr" indent="0" marL="0">
              <a:buNone/>
            </a:pPr>
            <a:r>
              <a:rPr lang="en-US" sz="1600" b="1" spc="100" kern="0" dirty="0">
                <a:solidFill>
                  <a:srgbClr val="FFFFFF"/>
                </a:solidFill>
                <a:latin typeface="Yu Gothic" pitchFamily="34" charset="0"/>
                <a:ea typeface="Yu Gothic" pitchFamily="34" charset="-122"/>
                <a:cs typeface="Yu Gothic" pitchFamily="34" charset="-120"/>
              </a:rPr>
              <a:t>01</a:t>
            </a:r>
            <a:endParaRPr lang="en-US" sz="1600" dirty="0"/>
          </a:p>
        </p:txBody>
      </p:sp>
      <p:sp>
        <p:nvSpPr>
          <p:cNvPr id="7" name="Text 5"/>
          <p:cNvSpPr/>
          <p:nvPr/>
        </p:nvSpPr>
        <p:spPr>
          <a:xfrm>
            <a:off x="1417320" y="1417320"/>
            <a:ext cx="3840480" cy="502920"/>
          </a:xfrm>
          <a:prstGeom prst="rect">
            <a:avLst/>
          </a:prstGeom>
          <a:noFill/>
          <a:ln/>
        </p:spPr>
        <p:txBody>
          <a:bodyPr wrap="square" lIns="0" tIns="0" rIns="0" bIns="0" rtlCol="0" anchor="ctr"/>
          <a:lstStyle/>
          <a:p>
            <a:pPr indent="0" marL="0">
              <a:buNone/>
            </a:pPr>
            <a:r>
              <a:rPr lang="en-US" sz="1500" b="1" dirty="0">
                <a:solidFill>
                  <a:srgbClr val="1F2937"/>
                </a:solidFill>
                <a:latin typeface="Yu Gothic" pitchFamily="34" charset="0"/>
                <a:ea typeface="Yu Gothic" pitchFamily="34" charset="-122"/>
                <a:cs typeface="Yu Gothic" pitchFamily="34" charset="-120"/>
              </a:rPr>
              <a:t>結婚後に起きやすい失敗の理解</a:t>
            </a:r>
            <a:endParaRPr lang="en-US" sz="1500" dirty="0"/>
          </a:p>
        </p:txBody>
      </p:sp>
      <p:sp>
        <p:nvSpPr>
          <p:cNvPr id="8" name="Text 6"/>
          <p:cNvSpPr/>
          <p:nvPr/>
        </p:nvSpPr>
        <p:spPr>
          <a:xfrm>
            <a:off x="5349240" y="1417320"/>
            <a:ext cx="3383280" cy="502920"/>
          </a:xfrm>
          <a:prstGeom prst="rect">
            <a:avLst/>
          </a:prstGeom>
          <a:noFill/>
          <a:ln/>
        </p:spPr>
        <p:txBody>
          <a:bodyPr wrap="square" lIns="0" tIns="0" rIns="0" bIns="0" rtlCol="0" anchor="ctr"/>
          <a:lstStyle/>
          <a:p>
            <a:pPr indent="0" marL="0">
              <a:buNone/>
            </a:pPr>
            <a:r>
              <a:rPr lang="en-US" sz="1150" dirty="0">
                <a:solidFill>
                  <a:srgbClr val="374151"/>
                </a:solidFill>
                <a:latin typeface="Yu Gothic" pitchFamily="34" charset="0"/>
                <a:ea typeface="Yu Gothic" pitchFamily="34" charset="-122"/>
                <a:cs typeface="Yu Gothic" pitchFamily="34" charset="-120"/>
              </a:rPr>
              <a:t>経営者男性が陥りやすいパターンを見える化し、まず自覚する。</a:t>
            </a:r>
            <a:endParaRPr lang="en-US" sz="1150" dirty="0"/>
          </a:p>
        </p:txBody>
      </p:sp>
      <p:sp>
        <p:nvSpPr>
          <p:cNvPr id="9" name="Shape 7"/>
          <p:cNvSpPr/>
          <p:nvPr/>
        </p:nvSpPr>
        <p:spPr>
          <a:xfrm>
            <a:off x="457200" y="1965960"/>
            <a:ext cx="8229600" cy="0"/>
          </a:xfrm>
          <a:prstGeom prst="line">
            <a:avLst/>
          </a:prstGeom>
          <a:noFill/>
          <a:ln w="6350">
            <a:solidFill>
              <a:srgbClr val="E5E7EB"/>
            </a:solidFill>
            <a:prstDash val="solid"/>
          </a:ln>
        </p:spPr>
      </p:sp>
      <p:sp>
        <p:nvSpPr>
          <p:cNvPr id="10" name="Shape 8"/>
          <p:cNvSpPr/>
          <p:nvPr/>
        </p:nvSpPr>
        <p:spPr>
          <a:xfrm>
            <a:off x="457200" y="2020824"/>
            <a:ext cx="777240" cy="502920"/>
          </a:xfrm>
          <a:prstGeom prst="rect">
            <a:avLst/>
          </a:prstGeom>
          <a:solidFill>
            <a:srgbClr val="1E2761"/>
          </a:solidFill>
          <a:ln/>
        </p:spPr>
      </p:sp>
      <p:sp>
        <p:nvSpPr>
          <p:cNvPr id="11" name="Text 9"/>
          <p:cNvSpPr/>
          <p:nvPr/>
        </p:nvSpPr>
        <p:spPr>
          <a:xfrm>
            <a:off x="457200" y="2020824"/>
            <a:ext cx="777240" cy="502920"/>
          </a:xfrm>
          <a:prstGeom prst="rect">
            <a:avLst/>
          </a:prstGeom>
          <a:noFill/>
          <a:ln/>
        </p:spPr>
        <p:txBody>
          <a:bodyPr wrap="square" lIns="0" tIns="0" rIns="0" bIns="0" rtlCol="0" anchor="ctr"/>
          <a:lstStyle/>
          <a:p>
            <a:pPr algn="ctr" indent="0" marL="0">
              <a:buNone/>
            </a:pPr>
            <a:r>
              <a:rPr lang="en-US" sz="1600" b="1" spc="100" kern="0" dirty="0">
                <a:solidFill>
                  <a:srgbClr val="FFFFFF"/>
                </a:solidFill>
                <a:latin typeface="Yu Gothic" pitchFamily="34" charset="0"/>
                <a:ea typeface="Yu Gothic" pitchFamily="34" charset="-122"/>
                <a:cs typeface="Yu Gothic" pitchFamily="34" charset="-120"/>
              </a:rPr>
              <a:t>02</a:t>
            </a:r>
            <a:endParaRPr lang="en-US" sz="1600" dirty="0"/>
          </a:p>
        </p:txBody>
      </p:sp>
      <p:sp>
        <p:nvSpPr>
          <p:cNvPr id="12" name="Text 10"/>
          <p:cNvSpPr/>
          <p:nvPr/>
        </p:nvSpPr>
        <p:spPr>
          <a:xfrm>
            <a:off x="1417320" y="2020824"/>
            <a:ext cx="3840480" cy="502920"/>
          </a:xfrm>
          <a:prstGeom prst="rect">
            <a:avLst/>
          </a:prstGeom>
          <a:noFill/>
          <a:ln/>
        </p:spPr>
        <p:txBody>
          <a:bodyPr wrap="square" lIns="0" tIns="0" rIns="0" bIns="0" rtlCol="0" anchor="ctr"/>
          <a:lstStyle/>
          <a:p>
            <a:pPr indent="0" marL="0">
              <a:buNone/>
            </a:pPr>
            <a:r>
              <a:rPr lang="en-US" sz="1500" b="1" dirty="0">
                <a:solidFill>
                  <a:srgbClr val="1F2937"/>
                </a:solidFill>
                <a:latin typeface="Yu Gothic" pitchFamily="34" charset="0"/>
                <a:ea typeface="Yu Gothic" pitchFamily="34" charset="-122"/>
                <a:cs typeface="Yu Gothic" pitchFamily="34" charset="-120"/>
              </a:rPr>
              <a:t>自分の Give&amp;Take を整理する</a:t>
            </a:r>
            <a:endParaRPr lang="en-US" sz="1500" dirty="0"/>
          </a:p>
        </p:txBody>
      </p:sp>
      <p:sp>
        <p:nvSpPr>
          <p:cNvPr id="13" name="Text 11"/>
          <p:cNvSpPr/>
          <p:nvPr/>
        </p:nvSpPr>
        <p:spPr>
          <a:xfrm>
            <a:off x="5349240" y="2020824"/>
            <a:ext cx="3383280" cy="502920"/>
          </a:xfrm>
          <a:prstGeom prst="rect">
            <a:avLst/>
          </a:prstGeom>
          <a:noFill/>
          <a:ln/>
        </p:spPr>
        <p:txBody>
          <a:bodyPr wrap="square" lIns="0" tIns="0" rIns="0" bIns="0" rtlCol="0" anchor="ctr"/>
          <a:lstStyle/>
          <a:p>
            <a:pPr indent="0" marL="0">
              <a:buNone/>
            </a:pPr>
            <a:r>
              <a:rPr lang="en-US" sz="1150" dirty="0">
                <a:solidFill>
                  <a:srgbClr val="374151"/>
                </a:solidFill>
                <a:latin typeface="Yu Gothic" pitchFamily="34" charset="0"/>
                <a:ea typeface="Yu Gothic" pitchFamily="34" charset="-122"/>
                <a:cs typeface="Yu Gothic" pitchFamily="34" charset="-120"/>
              </a:rPr>
              <a:t>与えているつもりの裏にある「求め」に気づき、言葉に変える。</a:t>
            </a:r>
            <a:endParaRPr lang="en-US" sz="1150" dirty="0"/>
          </a:p>
        </p:txBody>
      </p:sp>
      <p:sp>
        <p:nvSpPr>
          <p:cNvPr id="14" name="Shape 12"/>
          <p:cNvSpPr/>
          <p:nvPr/>
        </p:nvSpPr>
        <p:spPr>
          <a:xfrm>
            <a:off x="457200" y="2569464"/>
            <a:ext cx="8229600" cy="0"/>
          </a:xfrm>
          <a:prstGeom prst="line">
            <a:avLst/>
          </a:prstGeom>
          <a:noFill/>
          <a:ln w="6350">
            <a:solidFill>
              <a:srgbClr val="E5E7EB"/>
            </a:solidFill>
            <a:prstDash val="solid"/>
          </a:ln>
        </p:spPr>
      </p:sp>
      <p:sp>
        <p:nvSpPr>
          <p:cNvPr id="15" name="Shape 13"/>
          <p:cNvSpPr/>
          <p:nvPr/>
        </p:nvSpPr>
        <p:spPr>
          <a:xfrm>
            <a:off x="457200" y="2624328"/>
            <a:ext cx="777240" cy="502920"/>
          </a:xfrm>
          <a:prstGeom prst="rect">
            <a:avLst/>
          </a:prstGeom>
          <a:solidFill>
            <a:srgbClr val="1E2761"/>
          </a:solidFill>
          <a:ln/>
        </p:spPr>
      </p:sp>
      <p:sp>
        <p:nvSpPr>
          <p:cNvPr id="16" name="Text 14"/>
          <p:cNvSpPr/>
          <p:nvPr/>
        </p:nvSpPr>
        <p:spPr>
          <a:xfrm>
            <a:off x="457200" y="2624328"/>
            <a:ext cx="777240" cy="502920"/>
          </a:xfrm>
          <a:prstGeom prst="rect">
            <a:avLst/>
          </a:prstGeom>
          <a:noFill/>
          <a:ln/>
        </p:spPr>
        <p:txBody>
          <a:bodyPr wrap="square" lIns="0" tIns="0" rIns="0" bIns="0" rtlCol="0" anchor="ctr"/>
          <a:lstStyle/>
          <a:p>
            <a:pPr algn="ctr" indent="0" marL="0">
              <a:buNone/>
            </a:pPr>
            <a:r>
              <a:rPr lang="en-US" sz="1600" b="1" spc="100" kern="0" dirty="0">
                <a:solidFill>
                  <a:srgbClr val="FFFFFF"/>
                </a:solidFill>
                <a:latin typeface="Yu Gothic" pitchFamily="34" charset="0"/>
                <a:ea typeface="Yu Gothic" pitchFamily="34" charset="-122"/>
                <a:cs typeface="Yu Gothic" pitchFamily="34" charset="-120"/>
              </a:rPr>
              <a:t>03</a:t>
            </a:r>
            <a:endParaRPr lang="en-US" sz="1600" dirty="0"/>
          </a:p>
        </p:txBody>
      </p:sp>
      <p:sp>
        <p:nvSpPr>
          <p:cNvPr id="17" name="Text 15"/>
          <p:cNvSpPr/>
          <p:nvPr/>
        </p:nvSpPr>
        <p:spPr>
          <a:xfrm>
            <a:off x="1417320" y="2624328"/>
            <a:ext cx="3840480" cy="502920"/>
          </a:xfrm>
          <a:prstGeom prst="rect">
            <a:avLst/>
          </a:prstGeom>
          <a:noFill/>
          <a:ln/>
        </p:spPr>
        <p:txBody>
          <a:bodyPr wrap="square" lIns="0" tIns="0" rIns="0" bIns="0" rtlCol="0" anchor="ctr"/>
          <a:lstStyle/>
          <a:p>
            <a:pPr indent="0" marL="0">
              <a:buNone/>
            </a:pPr>
            <a:r>
              <a:rPr lang="en-US" sz="1500" b="1" dirty="0">
                <a:solidFill>
                  <a:srgbClr val="1F2937"/>
                </a:solidFill>
                <a:latin typeface="Yu Gothic" pitchFamily="34" charset="0"/>
                <a:ea typeface="Yu Gothic" pitchFamily="34" charset="-122"/>
                <a:cs typeface="Yu Gothic" pitchFamily="34" charset="-120"/>
              </a:rPr>
              <a:t>相手の幸せの形を理解する</a:t>
            </a:r>
            <a:endParaRPr lang="en-US" sz="1500" dirty="0"/>
          </a:p>
        </p:txBody>
      </p:sp>
      <p:sp>
        <p:nvSpPr>
          <p:cNvPr id="18" name="Text 16"/>
          <p:cNvSpPr/>
          <p:nvPr/>
        </p:nvSpPr>
        <p:spPr>
          <a:xfrm>
            <a:off x="5349240" y="2624328"/>
            <a:ext cx="3383280" cy="502920"/>
          </a:xfrm>
          <a:prstGeom prst="rect">
            <a:avLst/>
          </a:prstGeom>
          <a:noFill/>
          <a:ln/>
        </p:spPr>
        <p:txBody>
          <a:bodyPr wrap="square" lIns="0" tIns="0" rIns="0" bIns="0" rtlCol="0" anchor="ctr"/>
          <a:lstStyle/>
          <a:p>
            <a:pPr indent="0" marL="0">
              <a:buNone/>
            </a:pPr>
            <a:r>
              <a:rPr lang="en-US" sz="1150" dirty="0">
                <a:solidFill>
                  <a:srgbClr val="374151"/>
                </a:solidFill>
                <a:latin typeface="Yu Gothic" pitchFamily="34" charset="0"/>
                <a:ea typeface="Yu Gothic" pitchFamily="34" charset="-122"/>
                <a:cs typeface="Yu Gothic" pitchFamily="34" charset="-120"/>
              </a:rPr>
              <a:t>相手が本当に受け取りたいものは何か。届くGiveに整える。</a:t>
            </a:r>
            <a:endParaRPr lang="en-US" sz="1150" dirty="0"/>
          </a:p>
        </p:txBody>
      </p:sp>
      <p:sp>
        <p:nvSpPr>
          <p:cNvPr id="19" name="Shape 17"/>
          <p:cNvSpPr/>
          <p:nvPr/>
        </p:nvSpPr>
        <p:spPr>
          <a:xfrm>
            <a:off x="457200" y="3172968"/>
            <a:ext cx="8229600" cy="0"/>
          </a:xfrm>
          <a:prstGeom prst="line">
            <a:avLst/>
          </a:prstGeom>
          <a:noFill/>
          <a:ln w="6350">
            <a:solidFill>
              <a:srgbClr val="E5E7EB"/>
            </a:solidFill>
            <a:prstDash val="solid"/>
          </a:ln>
        </p:spPr>
      </p:sp>
      <p:sp>
        <p:nvSpPr>
          <p:cNvPr id="20" name="Shape 18"/>
          <p:cNvSpPr/>
          <p:nvPr/>
        </p:nvSpPr>
        <p:spPr>
          <a:xfrm>
            <a:off x="457200" y="3227832"/>
            <a:ext cx="777240" cy="502920"/>
          </a:xfrm>
          <a:prstGeom prst="rect">
            <a:avLst/>
          </a:prstGeom>
          <a:solidFill>
            <a:srgbClr val="1E2761"/>
          </a:solidFill>
          <a:ln/>
        </p:spPr>
      </p:sp>
      <p:sp>
        <p:nvSpPr>
          <p:cNvPr id="21" name="Text 19"/>
          <p:cNvSpPr/>
          <p:nvPr/>
        </p:nvSpPr>
        <p:spPr>
          <a:xfrm>
            <a:off x="457200" y="3227832"/>
            <a:ext cx="777240" cy="502920"/>
          </a:xfrm>
          <a:prstGeom prst="rect">
            <a:avLst/>
          </a:prstGeom>
          <a:noFill/>
          <a:ln/>
        </p:spPr>
        <p:txBody>
          <a:bodyPr wrap="square" lIns="0" tIns="0" rIns="0" bIns="0" rtlCol="0" anchor="ctr"/>
          <a:lstStyle/>
          <a:p>
            <a:pPr algn="ctr" indent="0" marL="0">
              <a:buNone/>
            </a:pPr>
            <a:r>
              <a:rPr lang="en-US" sz="1600" b="1" spc="100" kern="0" dirty="0">
                <a:solidFill>
                  <a:srgbClr val="FFFFFF"/>
                </a:solidFill>
                <a:latin typeface="Yu Gothic" pitchFamily="34" charset="0"/>
                <a:ea typeface="Yu Gothic" pitchFamily="34" charset="-122"/>
                <a:cs typeface="Yu Gothic" pitchFamily="34" charset="-120"/>
              </a:rPr>
              <a:t>04</a:t>
            </a:r>
            <a:endParaRPr lang="en-US" sz="1600" dirty="0"/>
          </a:p>
        </p:txBody>
      </p:sp>
      <p:sp>
        <p:nvSpPr>
          <p:cNvPr id="22" name="Text 20"/>
          <p:cNvSpPr/>
          <p:nvPr/>
        </p:nvSpPr>
        <p:spPr>
          <a:xfrm>
            <a:off x="1417320" y="3227832"/>
            <a:ext cx="3840480" cy="502920"/>
          </a:xfrm>
          <a:prstGeom prst="rect">
            <a:avLst/>
          </a:prstGeom>
          <a:noFill/>
          <a:ln/>
        </p:spPr>
        <p:txBody>
          <a:bodyPr wrap="square" lIns="0" tIns="0" rIns="0" bIns="0" rtlCol="0" anchor="ctr"/>
          <a:lstStyle/>
          <a:p>
            <a:pPr indent="0" marL="0">
              <a:buNone/>
            </a:pPr>
            <a:r>
              <a:rPr lang="en-US" sz="1500" b="1" dirty="0">
                <a:solidFill>
                  <a:srgbClr val="1F2937"/>
                </a:solidFill>
                <a:latin typeface="Yu Gothic" pitchFamily="34" charset="0"/>
                <a:ea typeface="Yu Gothic" pitchFamily="34" charset="-122"/>
                <a:cs typeface="Yu Gothic" pitchFamily="34" charset="-120"/>
              </a:rPr>
              <a:t>ふたりの未来を設計する</a:t>
            </a:r>
            <a:endParaRPr lang="en-US" sz="1500" dirty="0"/>
          </a:p>
        </p:txBody>
      </p:sp>
      <p:sp>
        <p:nvSpPr>
          <p:cNvPr id="23" name="Text 21"/>
          <p:cNvSpPr/>
          <p:nvPr/>
        </p:nvSpPr>
        <p:spPr>
          <a:xfrm>
            <a:off x="5349240" y="3227832"/>
            <a:ext cx="3383280" cy="502920"/>
          </a:xfrm>
          <a:prstGeom prst="rect">
            <a:avLst/>
          </a:prstGeom>
          <a:noFill/>
          <a:ln/>
        </p:spPr>
        <p:txBody>
          <a:bodyPr wrap="square" lIns="0" tIns="0" rIns="0" bIns="0" rtlCol="0" anchor="ctr"/>
          <a:lstStyle/>
          <a:p>
            <a:pPr indent="0" marL="0">
              <a:buNone/>
            </a:pPr>
            <a:r>
              <a:rPr lang="en-US" sz="1150" dirty="0">
                <a:solidFill>
                  <a:srgbClr val="374151"/>
                </a:solidFill>
                <a:latin typeface="Yu Gothic" pitchFamily="34" charset="0"/>
                <a:ea typeface="Yu Gothic" pitchFamily="34" charset="-122"/>
                <a:cs typeface="Yu Gothic" pitchFamily="34" charset="-120"/>
              </a:rPr>
              <a:t>仕事のビジョンのように、結婚前にふたりの未来を言語化する。</a:t>
            </a:r>
            <a:endParaRPr lang="en-US" sz="1150" dirty="0"/>
          </a:p>
        </p:txBody>
      </p:sp>
      <p:sp>
        <p:nvSpPr>
          <p:cNvPr id="24" name="Shape 22"/>
          <p:cNvSpPr/>
          <p:nvPr/>
        </p:nvSpPr>
        <p:spPr>
          <a:xfrm>
            <a:off x="457200" y="3776472"/>
            <a:ext cx="8229600" cy="0"/>
          </a:xfrm>
          <a:prstGeom prst="line">
            <a:avLst/>
          </a:prstGeom>
          <a:noFill/>
          <a:ln w="6350">
            <a:solidFill>
              <a:srgbClr val="E5E7EB"/>
            </a:solidFill>
            <a:prstDash val="solid"/>
          </a:ln>
        </p:spPr>
      </p:sp>
      <p:sp>
        <p:nvSpPr>
          <p:cNvPr id="25" name="Shape 23"/>
          <p:cNvSpPr/>
          <p:nvPr/>
        </p:nvSpPr>
        <p:spPr>
          <a:xfrm>
            <a:off x="457200" y="3831336"/>
            <a:ext cx="777240" cy="502920"/>
          </a:xfrm>
          <a:prstGeom prst="rect">
            <a:avLst/>
          </a:prstGeom>
          <a:solidFill>
            <a:srgbClr val="1E2761"/>
          </a:solidFill>
          <a:ln/>
        </p:spPr>
      </p:sp>
      <p:sp>
        <p:nvSpPr>
          <p:cNvPr id="26" name="Text 24"/>
          <p:cNvSpPr/>
          <p:nvPr/>
        </p:nvSpPr>
        <p:spPr>
          <a:xfrm>
            <a:off x="457200" y="3831336"/>
            <a:ext cx="777240" cy="502920"/>
          </a:xfrm>
          <a:prstGeom prst="rect">
            <a:avLst/>
          </a:prstGeom>
          <a:noFill/>
          <a:ln/>
        </p:spPr>
        <p:txBody>
          <a:bodyPr wrap="square" lIns="0" tIns="0" rIns="0" bIns="0" rtlCol="0" anchor="ctr"/>
          <a:lstStyle/>
          <a:p>
            <a:pPr algn="ctr" indent="0" marL="0">
              <a:buNone/>
            </a:pPr>
            <a:r>
              <a:rPr lang="en-US" sz="1600" b="1" spc="100" kern="0" dirty="0">
                <a:solidFill>
                  <a:srgbClr val="FFFFFF"/>
                </a:solidFill>
                <a:latin typeface="Yu Gothic" pitchFamily="34" charset="0"/>
                <a:ea typeface="Yu Gothic" pitchFamily="34" charset="-122"/>
                <a:cs typeface="Yu Gothic" pitchFamily="34" charset="-120"/>
              </a:rPr>
              <a:t>05</a:t>
            </a:r>
            <a:endParaRPr lang="en-US" sz="1600" dirty="0"/>
          </a:p>
        </p:txBody>
      </p:sp>
      <p:sp>
        <p:nvSpPr>
          <p:cNvPr id="27" name="Text 25"/>
          <p:cNvSpPr/>
          <p:nvPr/>
        </p:nvSpPr>
        <p:spPr>
          <a:xfrm>
            <a:off x="1417320" y="3831336"/>
            <a:ext cx="3840480" cy="502920"/>
          </a:xfrm>
          <a:prstGeom prst="rect">
            <a:avLst/>
          </a:prstGeom>
          <a:noFill/>
          <a:ln/>
        </p:spPr>
        <p:txBody>
          <a:bodyPr wrap="square" lIns="0" tIns="0" rIns="0" bIns="0" rtlCol="0" anchor="ctr"/>
          <a:lstStyle/>
          <a:p>
            <a:pPr indent="0" marL="0">
              <a:buNone/>
            </a:pPr>
            <a:r>
              <a:rPr lang="en-US" sz="1500" b="1" dirty="0">
                <a:solidFill>
                  <a:srgbClr val="1F2937"/>
                </a:solidFill>
                <a:latin typeface="Yu Gothic" pitchFamily="34" charset="0"/>
                <a:ea typeface="Yu Gothic" pitchFamily="34" charset="-122"/>
                <a:cs typeface="Yu Gothic" pitchFamily="34" charset="-120"/>
              </a:rPr>
              <a:t>戻る場所としての関係性をつくる</a:t>
            </a:r>
            <a:endParaRPr lang="en-US" sz="1500" dirty="0"/>
          </a:p>
        </p:txBody>
      </p:sp>
      <p:sp>
        <p:nvSpPr>
          <p:cNvPr id="28" name="Text 26"/>
          <p:cNvSpPr/>
          <p:nvPr/>
        </p:nvSpPr>
        <p:spPr>
          <a:xfrm>
            <a:off x="5349240" y="3831336"/>
            <a:ext cx="3383280" cy="502920"/>
          </a:xfrm>
          <a:prstGeom prst="rect">
            <a:avLst/>
          </a:prstGeom>
          <a:noFill/>
          <a:ln/>
        </p:spPr>
        <p:txBody>
          <a:bodyPr wrap="square" lIns="0" tIns="0" rIns="0" bIns="0" rtlCol="0" anchor="ctr"/>
          <a:lstStyle/>
          <a:p>
            <a:pPr indent="0" marL="0">
              <a:buNone/>
            </a:pPr>
            <a:r>
              <a:rPr lang="en-US" sz="1150" dirty="0">
                <a:solidFill>
                  <a:srgbClr val="374151"/>
                </a:solidFill>
                <a:latin typeface="Yu Gothic" pitchFamily="34" charset="0"/>
                <a:ea typeface="Yu Gothic" pitchFamily="34" charset="-122"/>
                <a:cs typeface="Yu Gothic" pitchFamily="34" charset="-120"/>
              </a:rPr>
              <a:t>細かいルールではなく、すれ違っても戻れる共通認識を持つ。</a:t>
            </a:r>
            <a:endParaRPr lang="en-US" sz="1150" dirty="0"/>
          </a:p>
        </p:txBody>
      </p:sp>
      <p:sp>
        <p:nvSpPr>
          <p:cNvPr id="29" name="Text 27"/>
          <p:cNvSpPr/>
          <p:nvPr/>
        </p:nvSpPr>
        <p:spPr>
          <a:xfrm>
            <a:off x="457200" y="4800600"/>
            <a:ext cx="4572000" cy="274320"/>
          </a:xfrm>
          <a:prstGeom prst="rect">
            <a:avLst/>
          </a:prstGeom>
          <a:noFill/>
          <a:ln/>
        </p:spPr>
        <p:txBody>
          <a:bodyPr wrap="square" lIns="0" tIns="0" rIns="0" bIns="0" rtlCol="0" anchor="ctr"/>
          <a:lstStyle/>
          <a:p>
            <a:pPr algn="l" indent="0" marL="0">
              <a:buNone/>
            </a:pPr>
            <a:r>
              <a:rPr lang="en-US" sz="900" spc="200" kern="0" dirty="0">
                <a:solidFill>
                  <a:srgbClr val="6B7280"/>
                </a:solidFill>
                <a:latin typeface="Yu Gothic" pitchFamily="34" charset="0"/>
                <a:ea typeface="Yu Gothic" pitchFamily="34" charset="-122"/>
                <a:cs typeface="Yu Gothic" pitchFamily="34" charset="-120"/>
              </a:rPr>
              <a:t>結婚前 Give&amp;Take マネジメント</a:t>
            </a:r>
            <a:endParaRPr lang="en-US" sz="900" dirty="0"/>
          </a:p>
        </p:txBody>
      </p:sp>
      <p:sp>
        <p:nvSpPr>
          <p:cNvPr id="30" name="Text 28"/>
          <p:cNvSpPr/>
          <p:nvPr/>
        </p:nvSpPr>
        <p:spPr>
          <a:xfrm>
            <a:off x="7955280" y="4800600"/>
            <a:ext cx="1005840" cy="274320"/>
          </a:xfrm>
          <a:prstGeom prst="rect">
            <a:avLst/>
          </a:prstGeom>
          <a:noFill/>
          <a:ln/>
        </p:spPr>
        <p:txBody>
          <a:bodyPr wrap="square" lIns="0" tIns="0" rIns="0" bIns="0"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64008" cy="457200"/>
          </a:xfrm>
          <a:prstGeom prst="rect">
            <a:avLst/>
          </a:prstGeom>
          <a:solidFill>
            <a:srgbClr val="1E2761"/>
          </a:solidFill>
          <a:ln/>
        </p:spPr>
      </p:sp>
      <p:sp>
        <p:nvSpPr>
          <p:cNvPr id="3" name="Text 1"/>
          <p:cNvSpPr/>
          <p:nvPr/>
        </p:nvSpPr>
        <p:spPr>
          <a:xfrm>
            <a:off x="640080" y="411480"/>
            <a:ext cx="8046720" cy="502920"/>
          </a:xfrm>
          <a:prstGeom prst="rect">
            <a:avLst/>
          </a:prstGeom>
          <a:noFill/>
          <a:ln/>
        </p:spPr>
        <p:txBody>
          <a:bodyPr wrap="square" lIns="0" tIns="0" rIns="0" bIns="0" rtlCol="0" anchor="ctr"/>
          <a:lstStyle/>
          <a:p>
            <a:pPr indent="0" marL="0">
              <a:buNone/>
            </a:pPr>
            <a:r>
              <a:rPr lang="en-US" sz="2600" b="1" dirty="0">
                <a:solidFill>
                  <a:srgbClr val="1F2937"/>
                </a:solidFill>
                <a:latin typeface="Yu Gothic" pitchFamily="34" charset="0"/>
                <a:ea typeface="Yu Gothic" pitchFamily="34" charset="-122"/>
                <a:cs typeface="Yu Gothic" pitchFamily="34" charset="-120"/>
              </a:rPr>
              <a:t>メリット</a:t>
            </a:r>
            <a:endParaRPr lang="en-US" sz="2600" dirty="0"/>
          </a:p>
        </p:txBody>
      </p:sp>
      <p:sp>
        <p:nvSpPr>
          <p:cNvPr id="4" name="Text 2"/>
          <p:cNvSpPr/>
          <p:nvPr/>
        </p:nvSpPr>
        <p:spPr>
          <a:xfrm>
            <a:off x="640080" y="914400"/>
            <a:ext cx="8046720" cy="320040"/>
          </a:xfrm>
          <a:prstGeom prst="rect">
            <a:avLst/>
          </a:prstGeom>
          <a:noFill/>
          <a:ln/>
        </p:spPr>
        <p:txBody>
          <a:bodyPr wrap="square" lIns="0" tIns="0" rIns="0" bIns="0" rtlCol="0" anchor="ctr"/>
          <a:lstStyle/>
          <a:p>
            <a:pPr indent="0" marL="0">
              <a:buNone/>
            </a:pPr>
            <a:r>
              <a:rPr lang="en-US" sz="1200" spc="200" kern="0" dirty="0">
                <a:solidFill>
                  <a:srgbClr val="6B7280"/>
                </a:solidFill>
                <a:latin typeface="Yu Gothic" pitchFamily="34" charset="0"/>
                <a:ea typeface="Yu Gothic" pitchFamily="34" charset="-122"/>
                <a:cs typeface="Yu Gothic" pitchFamily="34" charset="-120"/>
              </a:rPr>
              <a:t>BENEFITS</a:t>
            </a:r>
            <a:endParaRPr lang="en-US" sz="1200" dirty="0"/>
          </a:p>
        </p:txBody>
      </p:sp>
      <p:sp>
        <p:nvSpPr>
          <p:cNvPr id="5" name="Shape 3"/>
          <p:cNvSpPr/>
          <p:nvPr/>
        </p:nvSpPr>
        <p:spPr>
          <a:xfrm>
            <a:off x="457200" y="1417320"/>
            <a:ext cx="2697480" cy="3108960"/>
          </a:xfrm>
          <a:prstGeom prst="rect">
            <a:avLst/>
          </a:prstGeom>
          <a:solidFill>
            <a:srgbClr val="FAFBFD"/>
          </a:solidFill>
          <a:ln w="9525">
            <a:solidFill>
              <a:srgbClr val="E5E7EB"/>
            </a:solidFill>
            <a:prstDash val="solid"/>
          </a:ln>
        </p:spPr>
      </p:sp>
      <p:sp>
        <p:nvSpPr>
          <p:cNvPr id="6" name="Shape 4"/>
          <p:cNvSpPr/>
          <p:nvPr/>
        </p:nvSpPr>
        <p:spPr>
          <a:xfrm>
            <a:off x="457200" y="1417320"/>
            <a:ext cx="2697480" cy="457200"/>
          </a:xfrm>
          <a:prstGeom prst="rect">
            <a:avLst/>
          </a:prstGeom>
          <a:solidFill>
            <a:srgbClr val="0F1B47"/>
          </a:solidFill>
          <a:ln/>
        </p:spPr>
      </p:sp>
      <p:sp>
        <p:nvSpPr>
          <p:cNvPr id="7" name="Text 5"/>
          <p:cNvSpPr/>
          <p:nvPr/>
        </p:nvSpPr>
        <p:spPr>
          <a:xfrm>
            <a:off x="640080" y="1472184"/>
            <a:ext cx="2331720" cy="182880"/>
          </a:xfrm>
          <a:prstGeom prst="rect">
            <a:avLst/>
          </a:prstGeom>
          <a:noFill/>
          <a:ln/>
        </p:spPr>
        <p:txBody>
          <a:bodyPr wrap="square" lIns="0" tIns="0" rIns="0" bIns="0" rtlCol="0" anchor="ctr"/>
          <a:lstStyle/>
          <a:p>
            <a:pPr indent="0" marL="0">
              <a:buNone/>
            </a:pPr>
            <a:r>
              <a:rPr lang="en-US" sz="900" b="1" spc="400" kern="0" dirty="0">
                <a:solidFill>
                  <a:srgbClr val="CADCFC"/>
                </a:solidFill>
                <a:latin typeface="Yu Gothic" pitchFamily="34" charset="0"/>
                <a:ea typeface="Yu Gothic" pitchFamily="34" charset="-122"/>
                <a:cs typeface="Yu Gothic" pitchFamily="34" charset="-120"/>
              </a:rPr>
              <a:t>FOR HIM</a:t>
            </a:r>
            <a:endParaRPr lang="en-US" sz="900" dirty="0"/>
          </a:p>
        </p:txBody>
      </p:sp>
      <p:sp>
        <p:nvSpPr>
          <p:cNvPr id="8" name="Text 6"/>
          <p:cNvSpPr/>
          <p:nvPr/>
        </p:nvSpPr>
        <p:spPr>
          <a:xfrm>
            <a:off x="640080" y="1618488"/>
            <a:ext cx="2331720" cy="292608"/>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2"/>
                <a:cs typeface="Yu Gothic" pitchFamily="34" charset="-120"/>
              </a:rPr>
              <a:t>男性側</a:t>
            </a:r>
            <a:endParaRPr lang="en-US" sz="1600" dirty="0"/>
          </a:p>
        </p:txBody>
      </p:sp>
      <p:sp>
        <p:nvSpPr>
          <p:cNvPr id="9" name="Text 7"/>
          <p:cNvSpPr/>
          <p:nvPr/>
        </p:nvSpPr>
        <p:spPr>
          <a:xfrm>
            <a:off x="685800" y="2103120"/>
            <a:ext cx="2240280" cy="2331720"/>
          </a:xfrm>
          <a:prstGeom prst="rect">
            <a:avLst/>
          </a:prstGeom>
          <a:noFill/>
          <a:ln/>
        </p:spPr>
        <p:txBody>
          <a:bodyPr wrap="square" lIns="50800" tIns="50800" rIns="50800" bIns="50800" rtlCol="0" anchor="t"/>
          <a:lstStyle/>
          <a:p>
            <a:pPr marL="342900" indent="-342900">
              <a:spcAft>
                <a:spcPts val="500"/>
              </a:spcAft>
              <a:buSzPct val="100000"/>
              <a:buChar char="■"/>
            </a:pPr>
            <a:r>
              <a:rPr lang="en-US" sz="1100" dirty="0">
                <a:solidFill>
                  <a:srgbClr val="374151"/>
                </a:solidFill>
                <a:latin typeface="Yu Gothic" pitchFamily="34" charset="0"/>
                <a:ea typeface="Yu Gothic" pitchFamily="34" charset="-122"/>
                <a:cs typeface="Yu Gothic" pitchFamily="34" charset="-120"/>
              </a:rPr>
              <a:t>すれ違いを未然に防げる</a:t>
            </a:r>
            <a:endParaRPr lang="en-US" sz="1100" dirty="0"/>
          </a:p>
          <a:p>
            <a:pPr marL="342900" indent="-342900">
              <a:spcAft>
                <a:spcPts val="500"/>
              </a:spcAft>
              <a:buSzPct val="100000"/>
              <a:buChar char="■"/>
            </a:pPr>
            <a:r>
              <a:rPr lang="en-US" sz="1100" dirty="0">
                <a:solidFill>
                  <a:srgbClr val="374151"/>
                </a:solidFill>
                <a:latin typeface="Yu Gothic" pitchFamily="34" charset="0"/>
                <a:ea typeface="Yu Gothic" pitchFamily="34" charset="-122"/>
                <a:cs typeface="Yu Gothic" pitchFamily="34" charset="-120"/>
              </a:rPr>
              <a:t>自分の感情・期待に気づける</a:t>
            </a:r>
            <a:endParaRPr lang="en-US" sz="1100" dirty="0"/>
          </a:p>
          <a:p>
            <a:pPr marL="342900" indent="-342900">
              <a:spcAft>
                <a:spcPts val="500"/>
              </a:spcAft>
              <a:buSzPct val="100000"/>
              <a:buChar char="■"/>
            </a:pPr>
            <a:r>
              <a:rPr lang="en-US" sz="1100" dirty="0">
                <a:solidFill>
                  <a:srgbClr val="374151"/>
                </a:solidFill>
                <a:latin typeface="Yu Gothic" pitchFamily="34" charset="0"/>
                <a:ea typeface="Yu Gothic" pitchFamily="34" charset="-122"/>
                <a:cs typeface="Yu Gothic" pitchFamily="34" charset="-120"/>
              </a:rPr>
              <a:t>与えても伝わらないを減らせる</a:t>
            </a:r>
            <a:endParaRPr lang="en-US" sz="1100" dirty="0"/>
          </a:p>
          <a:p>
            <a:pPr marL="342900" indent="-342900">
              <a:spcAft>
                <a:spcPts val="500"/>
              </a:spcAft>
              <a:buSzPct val="100000"/>
              <a:buChar char="■"/>
            </a:pPr>
            <a:r>
              <a:rPr lang="en-US" sz="1100" dirty="0">
                <a:solidFill>
                  <a:srgbClr val="374151"/>
                </a:solidFill>
                <a:latin typeface="Yu Gothic" pitchFamily="34" charset="0"/>
                <a:ea typeface="Yu Gothic" pitchFamily="34" charset="-122"/>
                <a:cs typeface="Yu Gothic" pitchFamily="34" charset="-120"/>
              </a:rPr>
              <a:t>家庭での圧・沈黙が減る</a:t>
            </a:r>
            <a:endParaRPr lang="en-US" sz="1100" dirty="0"/>
          </a:p>
          <a:p>
            <a:pPr marL="342900" indent="-342900">
              <a:spcAft>
                <a:spcPts val="500"/>
              </a:spcAft>
              <a:buSzPct val="100000"/>
              <a:buChar char="■"/>
            </a:pPr>
            <a:r>
              <a:rPr lang="en-US" sz="1100" dirty="0">
                <a:solidFill>
                  <a:srgbClr val="374151"/>
                </a:solidFill>
                <a:latin typeface="Yu Gothic" pitchFamily="34" charset="0"/>
                <a:ea typeface="Yu Gothic" pitchFamily="34" charset="-122"/>
                <a:cs typeface="Yu Gothic" pitchFamily="34" charset="-120"/>
              </a:rPr>
              <a:t>仕事と家庭の切替が上手に</a:t>
            </a:r>
            <a:endParaRPr lang="en-US" sz="1100" dirty="0"/>
          </a:p>
          <a:p>
            <a:pPr marL="342900" indent="-342900">
              <a:spcAft>
                <a:spcPts val="500"/>
              </a:spcAft>
              <a:buSzPct val="100000"/>
              <a:buChar char="■"/>
            </a:pPr>
            <a:r>
              <a:rPr lang="en-US" sz="1100" dirty="0">
                <a:solidFill>
                  <a:srgbClr val="374151"/>
                </a:solidFill>
                <a:latin typeface="Yu Gothic" pitchFamily="34" charset="0"/>
                <a:ea typeface="Yu Gothic" pitchFamily="34" charset="-122"/>
                <a:cs typeface="Yu Gothic" pitchFamily="34" charset="-120"/>
              </a:rPr>
              <a:t>長く信頼されやすくなる</a:t>
            </a:r>
            <a:endParaRPr lang="en-US" sz="1100" dirty="0"/>
          </a:p>
        </p:txBody>
      </p:sp>
      <p:sp>
        <p:nvSpPr>
          <p:cNvPr id="10" name="Shape 8"/>
          <p:cNvSpPr/>
          <p:nvPr/>
        </p:nvSpPr>
        <p:spPr>
          <a:xfrm>
            <a:off x="3273552" y="1417320"/>
            <a:ext cx="2697480" cy="3108960"/>
          </a:xfrm>
          <a:prstGeom prst="rect">
            <a:avLst/>
          </a:prstGeom>
          <a:solidFill>
            <a:srgbClr val="FAFBFD"/>
          </a:solidFill>
          <a:ln w="9525">
            <a:solidFill>
              <a:srgbClr val="E5E7EB"/>
            </a:solidFill>
            <a:prstDash val="solid"/>
          </a:ln>
        </p:spPr>
      </p:sp>
      <p:sp>
        <p:nvSpPr>
          <p:cNvPr id="11" name="Shape 9"/>
          <p:cNvSpPr/>
          <p:nvPr/>
        </p:nvSpPr>
        <p:spPr>
          <a:xfrm>
            <a:off x="3273552" y="1417320"/>
            <a:ext cx="2697480" cy="457200"/>
          </a:xfrm>
          <a:prstGeom prst="rect">
            <a:avLst/>
          </a:prstGeom>
          <a:solidFill>
            <a:srgbClr val="0F1B47"/>
          </a:solidFill>
          <a:ln/>
        </p:spPr>
      </p:sp>
      <p:sp>
        <p:nvSpPr>
          <p:cNvPr id="12" name="Text 10"/>
          <p:cNvSpPr/>
          <p:nvPr/>
        </p:nvSpPr>
        <p:spPr>
          <a:xfrm>
            <a:off x="3456432" y="1472184"/>
            <a:ext cx="2331720" cy="182880"/>
          </a:xfrm>
          <a:prstGeom prst="rect">
            <a:avLst/>
          </a:prstGeom>
          <a:noFill/>
          <a:ln/>
        </p:spPr>
        <p:txBody>
          <a:bodyPr wrap="square" lIns="0" tIns="0" rIns="0" bIns="0" rtlCol="0" anchor="ctr"/>
          <a:lstStyle/>
          <a:p>
            <a:pPr indent="0" marL="0">
              <a:buNone/>
            </a:pPr>
            <a:r>
              <a:rPr lang="en-US" sz="900" b="1" spc="400" kern="0" dirty="0">
                <a:solidFill>
                  <a:srgbClr val="CADCFC"/>
                </a:solidFill>
                <a:latin typeface="Yu Gothic" pitchFamily="34" charset="0"/>
                <a:ea typeface="Yu Gothic" pitchFamily="34" charset="-122"/>
                <a:cs typeface="Yu Gothic" pitchFamily="34" charset="-120"/>
              </a:rPr>
              <a:t>FOR HER</a:t>
            </a:r>
            <a:endParaRPr lang="en-US" sz="900" dirty="0"/>
          </a:p>
        </p:txBody>
      </p:sp>
      <p:sp>
        <p:nvSpPr>
          <p:cNvPr id="13" name="Text 11"/>
          <p:cNvSpPr/>
          <p:nvPr/>
        </p:nvSpPr>
        <p:spPr>
          <a:xfrm>
            <a:off x="3456432" y="1618488"/>
            <a:ext cx="2331720" cy="292608"/>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2"/>
                <a:cs typeface="Yu Gothic" pitchFamily="34" charset="-120"/>
              </a:rPr>
              <a:t>パートナー側</a:t>
            </a:r>
            <a:endParaRPr lang="en-US" sz="1600" dirty="0"/>
          </a:p>
        </p:txBody>
      </p:sp>
      <p:sp>
        <p:nvSpPr>
          <p:cNvPr id="14" name="Text 12"/>
          <p:cNvSpPr/>
          <p:nvPr/>
        </p:nvSpPr>
        <p:spPr>
          <a:xfrm>
            <a:off x="3502152" y="2103120"/>
            <a:ext cx="2240280" cy="2331720"/>
          </a:xfrm>
          <a:prstGeom prst="rect">
            <a:avLst/>
          </a:prstGeom>
          <a:noFill/>
          <a:ln/>
        </p:spPr>
        <p:txBody>
          <a:bodyPr wrap="square" lIns="50800" tIns="50800" rIns="50800" bIns="50800" rtlCol="0" anchor="t"/>
          <a:lstStyle/>
          <a:p>
            <a:pPr marL="342900" indent="-342900">
              <a:spcAft>
                <a:spcPts val="500"/>
              </a:spcAft>
              <a:buSzPct val="100000"/>
              <a:buChar char="■"/>
            </a:pPr>
            <a:r>
              <a:rPr lang="en-US" sz="1100" dirty="0">
                <a:solidFill>
                  <a:srgbClr val="374151"/>
                </a:solidFill>
                <a:latin typeface="Yu Gothic" pitchFamily="34" charset="0"/>
                <a:ea typeface="Yu Gothic" pitchFamily="34" charset="-122"/>
                <a:cs typeface="Yu Gothic" pitchFamily="34" charset="-120"/>
              </a:rPr>
              <a:t>大切にされる実感を持てる</a:t>
            </a:r>
            <a:endParaRPr lang="en-US" sz="1100" dirty="0"/>
          </a:p>
          <a:p>
            <a:pPr marL="342900" indent="-342900">
              <a:spcAft>
                <a:spcPts val="500"/>
              </a:spcAft>
              <a:buSzPct val="100000"/>
              <a:buChar char="■"/>
            </a:pPr>
            <a:r>
              <a:rPr lang="en-US" sz="1100" dirty="0">
                <a:solidFill>
                  <a:srgbClr val="374151"/>
                </a:solidFill>
                <a:latin typeface="Yu Gothic" pitchFamily="34" charset="0"/>
                <a:ea typeface="Yu Gothic" pitchFamily="34" charset="-122"/>
                <a:cs typeface="Yu Gothic" pitchFamily="34" charset="-120"/>
              </a:rPr>
              <a:t>不安を事前に共有できる</a:t>
            </a:r>
            <a:endParaRPr lang="en-US" sz="1100" dirty="0"/>
          </a:p>
          <a:p>
            <a:pPr marL="342900" indent="-342900">
              <a:spcAft>
                <a:spcPts val="500"/>
              </a:spcAft>
              <a:buSzPct val="100000"/>
              <a:buChar char="■"/>
            </a:pPr>
            <a:r>
              <a:rPr lang="en-US" sz="1100" dirty="0">
                <a:solidFill>
                  <a:srgbClr val="374151"/>
                </a:solidFill>
                <a:latin typeface="Yu Gothic" pitchFamily="34" charset="0"/>
                <a:ea typeface="Yu Gothic" pitchFamily="34" charset="-122"/>
                <a:cs typeface="Yu Gothic" pitchFamily="34" charset="-120"/>
              </a:rPr>
              <a:t>彼の考え・感情を理解しやすい</a:t>
            </a:r>
            <a:endParaRPr lang="en-US" sz="1100" dirty="0"/>
          </a:p>
          <a:p>
            <a:pPr marL="342900" indent="-342900">
              <a:spcAft>
                <a:spcPts val="500"/>
              </a:spcAft>
              <a:buSzPct val="100000"/>
              <a:buChar char="■"/>
            </a:pPr>
            <a:r>
              <a:rPr lang="en-US" sz="1100" dirty="0">
                <a:solidFill>
                  <a:srgbClr val="374151"/>
                </a:solidFill>
                <a:latin typeface="Yu Gothic" pitchFamily="34" charset="0"/>
                <a:ea typeface="Yu Gothic" pitchFamily="34" charset="-122"/>
                <a:cs typeface="Yu Gothic" pitchFamily="34" charset="-120"/>
              </a:rPr>
              <a:t>将来を一緒に話せる安心感</a:t>
            </a:r>
            <a:endParaRPr lang="en-US" sz="1100" dirty="0"/>
          </a:p>
          <a:p>
            <a:pPr marL="342900" indent="-342900">
              <a:spcAft>
                <a:spcPts val="500"/>
              </a:spcAft>
              <a:buSzPct val="100000"/>
              <a:buChar char="■"/>
            </a:pPr>
            <a:r>
              <a:rPr lang="en-US" sz="1100" dirty="0">
                <a:solidFill>
                  <a:srgbClr val="374151"/>
                </a:solidFill>
                <a:latin typeface="Yu Gothic" pitchFamily="34" charset="0"/>
                <a:ea typeface="Yu Gothic" pitchFamily="34" charset="-122"/>
                <a:cs typeface="Yu Gothic" pitchFamily="34" charset="-120"/>
              </a:rPr>
              <a:t>自分の幸せを言葉にできる</a:t>
            </a:r>
            <a:endParaRPr lang="en-US" sz="1100" dirty="0"/>
          </a:p>
          <a:p>
            <a:pPr marL="342900" indent="-342900">
              <a:spcAft>
                <a:spcPts val="500"/>
              </a:spcAft>
              <a:buSzPct val="100000"/>
              <a:buChar char="■"/>
            </a:pPr>
            <a:r>
              <a:rPr lang="en-US" sz="1100" dirty="0">
                <a:solidFill>
                  <a:srgbClr val="374151"/>
                </a:solidFill>
                <a:latin typeface="Yu Gothic" pitchFamily="34" charset="0"/>
                <a:ea typeface="Yu Gothic" pitchFamily="34" charset="-122"/>
                <a:cs typeface="Yu Gothic" pitchFamily="34" charset="-120"/>
              </a:rPr>
              <a:t>ひとりで我慢する結婚にならない</a:t>
            </a:r>
            <a:endParaRPr lang="en-US" sz="1100" dirty="0"/>
          </a:p>
        </p:txBody>
      </p:sp>
      <p:sp>
        <p:nvSpPr>
          <p:cNvPr id="15" name="Shape 13"/>
          <p:cNvSpPr/>
          <p:nvPr/>
        </p:nvSpPr>
        <p:spPr>
          <a:xfrm>
            <a:off x="6089904" y="1417320"/>
            <a:ext cx="2697480" cy="3108960"/>
          </a:xfrm>
          <a:prstGeom prst="rect">
            <a:avLst/>
          </a:prstGeom>
          <a:solidFill>
            <a:srgbClr val="FAFBFD"/>
          </a:solidFill>
          <a:ln w="9525">
            <a:solidFill>
              <a:srgbClr val="E5E7EB"/>
            </a:solidFill>
            <a:prstDash val="solid"/>
          </a:ln>
        </p:spPr>
      </p:sp>
      <p:sp>
        <p:nvSpPr>
          <p:cNvPr id="16" name="Shape 14"/>
          <p:cNvSpPr/>
          <p:nvPr/>
        </p:nvSpPr>
        <p:spPr>
          <a:xfrm>
            <a:off x="6089904" y="1417320"/>
            <a:ext cx="2697480" cy="457200"/>
          </a:xfrm>
          <a:prstGeom prst="rect">
            <a:avLst/>
          </a:prstGeom>
          <a:solidFill>
            <a:srgbClr val="0F1B47"/>
          </a:solidFill>
          <a:ln/>
        </p:spPr>
      </p:sp>
      <p:sp>
        <p:nvSpPr>
          <p:cNvPr id="17" name="Text 15"/>
          <p:cNvSpPr/>
          <p:nvPr/>
        </p:nvSpPr>
        <p:spPr>
          <a:xfrm>
            <a:off x="6272784" y="1472184"/>
            <a:ext cx="2331720" cy="182880"/>
          </a:xfrm>
          <a:prstGeom prst="rect">
            <a:avLst/>
          </a:prstGeom>
          <a:noFill/>
          <a:ln/>
        </p:spPr>
        <p:txBody>
          <a:bodyPr wrap="square" lIns="0" tIns="0" rIns="0" bIns="0" rtlCol="0" anchor="ctr"/>
          <a:lstStyle/>
          <a:p>
            <a:pPr indent="0" marL="0">
              <a:buNone/>
            </a:pPr>
            <a:r>
              <a:rPr lang="en-US" sz="900" b="1" spc="400" kern="0" dirty="0">
                <a:solidFill>
                  <a:srgbClr val="CADCFC"/>
                </a:solidFill>
                <a:latin typeface="Yu Gothic" pitchFamily="34" charset="0"/>
                <a:ea typeface="Yu Gothic" pitchFamily="34" charset="-122"/>
                <a:cs typeface="Yu Gothic" pitchFamily="34" charset="-120"/>
              </a:rPr>
              <a:t>FOR US</a:t>
            </a:r>
            <a:endParaRPr lang="en-US" sz="900" dirty="0"/>
          </a:p>
        </p:txBody>
      </p:sp>
      <p:sp>
        <p:nvSpPr>
          <p:cNvPr id="18" name="Text 16"/>
          <p:cNvSpPr/>
          <p:nvPr/>
        </p:nvSpPr>
        <p:spPr>
          <a:xfrm>
            <a:off x="6272784" y="1618488"/>
            <a:ext cx="2331720" cy="292608"/>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2"/>
                <a:cs typeface="Yu Gothic" pitchFamily="34" charset="-120"/>
              </a:rPr>
              <a:t>ふたり</a:t>
            </a:r>
            <a:endParaRPr lang="en-US" sz="1600" dirty="0"/>
          </a:p>
        </p:txBody>
      </p:sp>
      <p:sp>
        <p:nvSpPr>
          <p:cNvPr id="19" name="Text 17"/>
          <p:cNvSpPr/>
          <p:nvPr/>
        </p:nvSpPr>
        <p:spPr>
          <a:xfrm>
            <a:off x="6318504" y="2103120"/>
            <a:ext cx="2240280" cy="2331720"/>
          </a:xfrm>
          <a:prstGeom prst="rect">
            <a:avLst/>
          </a:prstGeom>
          <a:noFill/>
          <a:ln/>
        </p:spPr>
        <p:txBody>
          <a:bodyPr wrap="square" lIns="50800" tIns="50800" rIns="50800" bIns="50800" rtlCol="0" anchor="t"/>
          <a:lstStyle/>
          <a:p>
            <a:pPr marL="342900" indent="-342900">
              <a:spcAft>
                <a:spcPts val="500"/>
              </a:spcAft>
              <a:buSzPct val="100000"/>
              <a:buChar char="■"/>
            </a:pPr>
            <a:r>
              <a:rPr lang="en-US" sz="1100" dirty="0">
                <a:solidFill>
                  <a:srgbClr val="374151"/>
                </a:solidFill>
                <a:latin typeface="Yu Gothic" pitchFamily="34" charset="0"/>
                <a:ea typeface="Yu Gothic" pitchFamily="34" charset="-122"/>
                <a:cs typeface="Yu Gothic" pitchFamily="34" charset="-120"/>
              </a:rPr>
              <a:t>価値観のズレを早く発見</a:t>
            </a:r>
            <a:endParaRPr lang="en-US" sz="1100" dirty="0"/>
          </a:p>
          <a:p>
            <a:pPr marL="342900" indent="-342900">
              <a:spcAft>
                <a:spcPts val="500"/>
              </a:spcAft>
              <a:buSzPct val="100000"/>
              <a:buChar char="■"/>
            </a:pPr>
            <a:r>
              <a:rPr lang="en-US" sz="1100" dirty="0">
                <a:solidFill>
                  <a:srgbClr val="374151"/>
                </a:solidFill>
                <a:latin typeface="Yu Gothic" pitchFamily="34" charset="0"/>
                <a:ea typeface="Yu Gothic" pitchFamily="34" charset="-122"/>
                <a:cs typeface="Yu Gothic" pitchFamily="34" charset="-120"/>
              </a:rPr>
              <a:t>問題時に戻る場所がある</a:t>
            </a:r>
            <a:endParaRPr lang="en-US" sz="1100" dirty="0"/>
          </a:p>
          <a:p>
            <a:pPr marL="342900" indent="-342900">
              <a:spcAft>
                <a:spcPts val="500"/>
              </a:spcAft>
              <a:buSzPct val="100000"/>
              <a:buChar char="■"/>
            </a:pPr>
            <a:r>
              <a:rPr lang="en-US" sz="1100" dirty="0">
                <a:solidFill>
                  <a:srgbClr val="374151"/>
                </a:solidFill>
                <a:latin typeface="Yu Gothic" pitchFamily="34" charset="0"/>
                <a:ea typeface="Yu Gothic" pitchFamily="34" charset="-122"/>
                <a:cs typeface="Yu Gothic" pitchFamily="34" charset="-120"/>
              </a:rPr>
              <a:t>目指す未来が明確になる</a:t>
            </a:r>
            <a:endParaRPr lang="en-US" sz="1100" dirty="0"/>
          </a:p>
          <a:p>
            <a:pPr marL="342900" indent="-342900">
              <a:spcAft>
                <a:spcPts val="500"/>
              </a:spcAft>
              <a:buSzPct val="100000"/>
              <a:buChar char="■"/>
            </a:pPr>
            <a:r>
              <a:rPr lang="en-US" sz="1100" dirty="0">
                <a:solidFill>
                  <a:srgbClr val="374151"/>
                </a:solidFill>
                <a:latin typeface="Yu Gothic" pitchFamily="34" charset="0"/>
                <a:ea typeface="Yu Gothic" pitchFamily="34" charset="-122"/>
                <a:cs typeface="Yu Gothic" pitchFamily="34" charset="-120"/>
              </a:rPr>
              <a:t>感情的な衝突を減らせる</a:t>
            </a:r>
            <a:endParaRPr lang="en-US" sz="1100" dirty="0"/>
          </a:p>
          <a:p>
            <a:pPr marL="342900" indent="-342900">
              <a:spcAft>
                <a:spcPts val="500"/>
              </a:spcAft>
              <a:buSzPct val="100000"/>
              <a:buChar char="■"/>
            </a:pPr>
            <a:r>
              <a:rPr lang="en-US" sz="1100" dirty="0">
                <a:solidFill>
                  <a:srgbClr val="374151"/>
                </a:solidFill>
                <a:latin typeface="Yu Gothic" pitchFamily="34" charset="0"/>
                <a:ea typeface="Yu Gothic" pitchFamily="34" charset="-122"/>
                <a:cs typeface="Yu Gothic" pitchFamily="34" charset="-120"/>
              </a:rPr>
              <a:t>信頼を積み上げ続けられる</a:t>
            </a:r>
            <a:endParaRPr lang="en-US" sz="1100" dirty="0"/>
          </a:p>
          <a:p>
            <a:pPr marL="342900" indent="-342900">
              <a:spcAft>
                <a:spcPts val="500"/>
              </a:spcAft>
              <a:buSzPct val="100000"/>
              <a:buChar char="■"/>
            </a:pPr>
            <a:r>
              <a:rPr lang="en-US" sz="1100" dirty="0">
                <a:solidFill>
                  <a:srgbClr val="374151"/>
                </a:solidFill>
                <a:latin typeface="Yu Gothic" pitchFamily="34" charset="0"/>
                <a:ea typeface="Yu Gothic" pitchFamily="34" charset="-122"/>
                <a:cs typeface="Yu Gothic" pitchFamily="34" charset="-120"/>
              </a:rPr>
              <a:t>敵にならず、チームで進める</a:t>
            </a:r>
            <a:endParaRPr lang="en-US" sz="1100" dirty="0"/>
          </a:p>
        </p:txBody>
      </p:sp>
      <p:sp>
        <p:nvSpPr>
          <p:cNvPr id="20" name="Text 18"/>
          <p:cNvSpPr/>
          <p:nvPr/>
        </p:nvSpPr>
        <p:spPr>
          <a:xfrm>
            <a:off x="457200" y="4800600"/>
            <a:ext cx="4572000" cy="274320"/>
          </a:xfrm>
          <a:prstGeom prst="rect">
            <a:avLst/>
          </a:prstGeom>
          <a:noFill/>
          <a:ln/>
        </p:spPr>
        <p:txBody>
          <a:bodyPr wrap="square" lIns="0" tIns="0" rIns="0" bIns="0" rtlCol="0" anchor="ctr"/>
          <a:lstStyle/>
          <a:p>
            <a:pPr algn="l" indent="0" marL="0">
              <a:buNone/>
            </a:pPr>
            <a:r>
              <a:rPr lang="en-US" sz="900" spc="200" kern="0" dirty="0">
                <a:solidFill>
                  <a:srgbClr val="6B7280"/>
                </a:solidFill>
                <a:latin typeface="Yu Gothic" pitchFamily="34" charset="0"/>
                <a:ea typeface="Yu Gothic" pitchFamily="34" charset="-122"/>
                <a:cs typeface="Yu Gothic" pitchFamily="34" charset="-120"/>
              </a:rPr>
              <a:t>結婚前 Give&amp;Take マネジメント</a:t>
            </a:r>
            <a:endParaRPr lang="en-US" sz="900" dirty="0"/>
          </a:p>
        </p:txBody>
      </p:sp>
      <p:sp>
        <p:nvSpPr>
          <p:cNvPr id="21" name="Text 19"/>
          <p:cNvSpPr/>
          <p:nvPr/>
        </p:nvSpPr>
        <p:spPr>
          <a:xfrm>
            <a:off x="7955280" y="4800600"/>
            <a:ext cx="1005840" cy="274320"/>
          </a:xfrm>
          <a:prstGeom prst="rect">
            <a:avLst/>
          </a:prstGeom>
          <a:noFill/>
          <a:ln/>
        </p:spPr>
        <p:txBody>
          <a:bodyPr wrap="square" lIns="0" tIns="0" rIns="0" bIns="0"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47"/>
        </a:solidFill>
      </p:bgPr>
    </p:bg>
    <p:spTree>
      <p:nvGrpSpPr>
        <p:cNvPr id="1" name=""/>
        <p:cNvGrpSpPr/>
        <p:nvPr/>
      </p:nvGrpSpPr>
      <p:grpSpPr>
        <a:xfrm>
          <a:off x="0" y="0"/>
          <a:ext cx="0" cy="0"/>
          <a:chOff x="0" y="0"/>
          <a:chExt cx="0" cy="0"/>
        </a:xfrm>
      </p:grpSpPr>
      <p:sp>
        <p:nvSpPr>
          <p:cNvPr id="2" name="Text 0"/>
          <p:cNvSpPr/>
          <p:nvPr/>
        </p:nvSpPr>
        <p:spPr>
          <a:xfrm>
            <a:off x="457200" y="640080"/>
            <a:ext cx="8229600" cy="320040"/>
          </a:xfrm>
          <a:prstGeom prst="rect">
            <a:avLst/>
          </a:prstGeom>
          <a:noFill/>
          <a:ln/>
        </p:spPr>
        <p:txBody>
          <a:bodyPr wrap="square" lIns="0" tIns="0" rIns="0" bIns="0" rtlCol="0" anchor="ctr"/>
          <a:lstStyle/>
          <a:p>
            <a:pPr indent="0" marL="0">
              <a:buNone/>
            </a:pPr>
            <a:r>
              <a:rPr lang="en-US" sz="1100" spc="600" kern="0" dirty="0">
                <a:solidFill>
                  <a:srgbClr val="CADCFC"/>
                </a:solidFill>
                <a:latin typeface="Yu Gothic" pitchFamily="34" charset="0"/>
                <a:ea typeface="Yu Gothic" pitchFamily="34" charset="-122"/>
                <a:cs typeface="Yu Gothic" pitchFamily="34" charset="-120"/>
              </a:rPr>
              <a:t>KEY MESSAGE</a:t>
            </a:r>
            <a:endParaRPr lang="en-US" sz="1100" dirty="0"/>
          </a:p>
        </p:txBody>
      </p:sp>
      <p:sp>
        <p:nvSpPr>
          <p:cNvPr id="3" name="Shape 1"/>
          <p:cNvSpPr/>
          <p:nvPr/>
        </p:nvSpPr>
        <p:spPr>
          <a:xfrm>
            <a:off x="457200" y="1371600"/>
            <a:ext cx="548640" cy="36576"/>
          </a:xfrm>
          <a:prstGeom prst="rect">
            <a:avLst/>
          </a:prstGeom>
          <a:solidFill>
            <a:srgbClr val="CADCFC"/>
          </a:solidFill>
          <a:ln/>
        </p:spPr>
      </p:sp>
      <p:sp>
        <p:nvSpPr>
          <p:cNvPr id="4" name="Text 2"/>
          <p:cNvSpPr/>
          <p:nvPr/>
        </p:nvSpPr>
        <p:spPr>
          <a:xfrm>
            <a:off x="457200" y="1691640"/>
            <a:ext cx="8229600" cy="1691640"/>
          </a:xfrm>
          <a:prstGeom prst="rect">
            <a:avLst/>
          </a:prstGeom>
          <a:noFill/>
          <a:ln/>
        </p:spPr>
        <p:txBody>
          <a:bodyPr wrap="square" lIns="0" tIns="0" rIns="0" bIns="0" rtlCol="0" anchor="ctr"/>
          <a:lstStyle/>
          <a:p>
            <a:pPr indent="0" marL="0">
              <a:spcAft>
                <a:spcPts val="600"/>
              </a:spcAft>
              <a:buNone/>
            </a:pPr>
            <a:r>
              <a:rPr lang="en-US" sz="3000" b="1" dirty="0">
                <a:solidFill>
                  <a:srgbClr val="FFFFFF"/>
                </a:solidFill>
                <a:latin typeface="Yu Gothic" pitchFamily="34" charset="0"/>
                <a:ea typeface="Yu Gothic" pitchFamily="34" charset="-122"/>
                <a:cs typeface="Yu Gothic" pitchFamily="34" charset="-120"/>
              </a:rPr>
              <a:t>外ではロジックで成果を出す人ほど、</a:t>
            </a:r>
            <a:endParaRPr lang="en-US" sz="3000" dirty="0"/>
          </a:p>
          <a:p>
            <a:pPr indent="0" marL="0">
              <a:spcAft>
                <a:spcPts val="600"/>
              </a:spcAft>
              <a:buNone/>
            </a:pPr>
            <a:r>
              <a:rPr lang="en-US" sz="3000" b="1" dirty="0">
                <a:solidFill>
                  <a:srgbClr val="FFFFFF"/>
                </a:solidFill>
                <a:latin typeface="Yu Gothic" pitchFamily="34" charset="0"/>
                <a:ea typeface="Yu Gothic" pitchFamily="34" charset="-122"/>
                <a:cs typeface="Yu Gothic" pitchFamily="34" charset="-120"/>
              </a:rPr>
              <a:t>家庭では感情の扱い方で</a:t>
            </a:r>
            <a:endParaRPr lang="en-US" sz="3000" dirty="0"/>
          </a:p>
          <a:p>
            <a:pPr indent="0" marL="0">
              <a:spcAft>
                <a:spcPts val="600"/>
              </a:spcAft>
              <a:buNone/>
            </a:pPr>
            <a:r>
              <a:rPr lang="en-US" sz="3000" b="1" dirty="0">
                <a:solidFill>
                  <a:srgbClr val="FFFFFF"/>
                </a:solidFill>
                <a:latin typeface="Yu Gothic" pitchFamily="34" charset="0"/>
                <a:ea typeface="Yu Gothic" pitchFamily="34" charset="-122"/>
                <a:cs typeface="Yu Gothic" pitchFamily="34" charset="-120"/>
              </a:rPr>
              <a:t>つまずくことがある。</a:t>
            </a:r>
            <a:endParaRPr lang="en-US" sz="3000" dirty="0"/>
          </a:p>
        </p:txBody>
      </p:sp>
      <p:sp>
        <p:nvSpPr>
          <p:cNvPr id="5" name="Shape 3"/>
          <p:cNvSpPr/>
          <p:nvPr/>
        </p:nvSpPr>
        <p:spPr>
          <a:xfrm>
            <a:off x="457200" y="3520440"/>
            <a:ext cx="548640" cy="36576"/>
          </a:xfrm>
          <a:prstGeom prst="rect">
            <a:avLst/>
          </a:prstGeom>
          <a:solidFill>
            <a:srgbClr val="CADCFC"/>
          </a:solidFill>
          <a:ln/>
        </p:spPr>
      </p:sp>
      <p:sp>
        <p:nvSpPr>
          <p:cNvPr id="6" name="Text 4"/>
          <p:cNvSpPr/>
          <p:nvPr/>
        </p:nvSpPr>
        <p:spPr>
          <a:xfrm>
            <a:off x="457200" y="3749040"/>
            <a:ext cx="8229600" cy="457200"/>
          </a:xfrm>
          <a:prstGeom prst="rect">
            <a:avLst/>
          </a:prstGeom>
          <a:noFill/>
          <a:ln/>
        </p:spPr>
        <p:txBody>
          <a:bodyPr wrap="square" lIns="0" tIns="0" rIns="0" bIns="0" rtlCol="0" anchor="ctr"/>
          <a:lstStyle/>
          <a:p>
            <a:pPr indent="0" marL="0">
              <a:buNone/>
            </a:pPr>
            <a:r>
              <a:rPr lang="en-US" sz="1600" i="1" dirty="0">
                <a:solidFill>
                  <a:srgbClr val="CADCFC"/>
                </a:solidFill>
                <a:latin typeface="Yu Gothic" pitchFamily="34" charset="0"/>
                <a:ea typeface="Yu Gothic" pitchFamily="34" charset="-122"/>
                <a:cs typeface="Yu Gothic" pitchFamily="34" charset="-120"/>
              </a:rPr>
              <a:t>結婚後に崩れるのは、愛情ではなく、設計かもしれない。</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47"/>
        </a:solidFill>
      </p:bgPr>
    </p:bg>
    <p:spTree>
      <p:nvGrpSpPr>
        <p:cNvPr id="1" name=""/>
        <p:cNvGrpSpPr/>
        <p:nvPr/>
      </p:nvGrpSpPr>
      <p:grpSpPr>
        <a:xfrm>
          <a:off x="0" y="0"/>
          <a:ext cx="0" cy="0"/>
          <a:chOff x="0" y="0"/>
          <a:chExt cx="0" cy="0"/>
        </a:xfrm>
      </p:grpSpPr>
      <p:sp>
        <p:nvSpPr>
          <p:cNvPr id="2" name="Shape 0"/>
          <p:cNvSpPr/>
          <p:nvPr/>
        </p:nvSpPr>
        <p:spPr>
          <a:xfrm>
            <a:off x="457200" y="457200"/>
            <a:ext cx="548640" cy="27432"/>
          </a:xfrm>
          <a:prstGeom prst="rect">
            <a:avLst/>
          </a:prstGeom>
          <a:solidFill>
            <a:srgbClr val="CADCFC"/>
          </a:solidFill>
          <a:ln/>
        </p:spPr>
      </p:sp>
      <p:sp>
        <p:nvSpPr>
          <p:cNvPr id="3" name="Text 1"/>
          <p:cNvSpPr/>
          <p:nvPr/>
        </p:nvSpPr>
        <p:spPr>
          <a:xfrm>
            <a:off x="457200" y="640080"/>
            <a:ext cx="8229600" cy="320040"/>
          </a:xfrm>
          <a:prstGeom prst="rect">
            <a:avLst/>
          </a:prstGeom>
          <a:noFill/>
          <a:ln/>
        </p:spPr>
        <p:txBody>
          <a:bodyPr wrap="square" lIns="0" tIns="0" rIns="0" bIns="0" rtlCol="0" anchor="ctr"/>
          <a:lstStyle/>
          <a:p>
            <a:pPr indent="0" marL="0">
              <a:buNone/>
            </a:pPr>
            <a:r>
              <a:rPr lang="en-US" sz="1100" spc="600" kern="0" dirty="0">
                <a:solidFill>
                  <a:srgbClr val="CADCFC"/>
                </a:solidFill>
                <a:latin typeface="Yu Gothic" pitchFamily="34" charset="0"/>
                <a:ea typeface="Yu Gothic" pitchFamily="34" charset="-122"/>
                <a:cs typeface="Yu Gothic" pitchFamily="34" charset="-120"/>
              </a:rPr>
              <a:t>CLOSING</a:t>
            </a:r>
            <a:endParaRPr lang="en-US" sz="1100" dirty="0"/>
          </a:p>
        </p:txBody>
      </p:sp>
      <p:sp>
        <p:nvSpPr>
          <p:cNvPr id="4" name="Text 2"/>
          <p:cNvSpPr/>
          <p:nvPr/>
        </p:nvSpPr>
        <p:spPr>
          <a:xfrm>
            <a:off x="457200" y="1371600"/>
            <a:ext cx="8229600" cy="1645920"/>
          </a:xfrm>
          <a:prstGeom prst="rect">
            <a:avLst/>
          </a:prstGeom>
          <a:noFill/>
          <a:ln/>
        </p:spPr>
        <p:txBody>
          <a:bodyPr wrap="square" lIns="0" tIns="0" rIns="0" bIns="0" rtlCol="0" anchor="ctr"/>
          <a:lstStyle/>
          <a:p>
            <a:pPr indent="0" marL="0">
              <a:spcAft>
                <a:spcPts val="600"/>
              </a:spcAft>
              <a:buNone/>
            </a:pPr>
            <a:r>
              <a:rPr lang="en-US" sz="3600" b="1" dirty="0">
                <a:solidFill>
                  <a:srgbClr val="FFFFFF"/>
                </a:solidFill>
                <a:latin typeface="Yu Gothic" pitchFamily="34" charset="0"/>
                <a:ea typeface="Yu Gothic" pitchFamily="34" charset="-122"/>
                <a:cs typeface="Yu Gothic" pitchFamily="34" charset="-120"/>
              </a:rPr>
              <a:t>経営者としての先回りを、</a:t>
            </a:r>
            <a:endParaRPr lang="en-US" sz="3600" dirty="0"/>
          </a:p>
          <a:p>
            <a:pPr indent="0" marL="0">
              <a:spcAft>
                <a:spcPts val="600"/>
              </a:spcAft>
              <a:buNone/>
            </a:pPr>
            <a:r>
              <a:rPr lang="en-US" sz="3600" b="1" dirty="0">
                <a:solidFill>
                  <a:srgbClr val="FFFFFF"/>
                </a:solidFill>
                <a:latin typeface="Yu Gothic" pitchFamily="34" charset="0"/>
                <a:ea typeface="Yu Gothic" pitchFamily="34" charset="-122"/>
                <a:cs typeface="Yu Gothic" pitchFamily="34" charset="-120"/>
              </a:rPr>
              <a:t>一番大切な人との関係にも。</a:t>
            </a:r>
            <a:endParaRPr lang="en-US" sz="3600" dirty="0"/>
          </a:p>
        </p:txBody>
      </p:sp>
      <p:sp>
        <p:nvSpPr>
          <p:cNvPr id="5" name="Shape 3"/>
          <p:cNvSpPr/>
          <p:nvPr/>
        </p:nvSpPr>
        <p:spPr>
          <a:xfrm>
            <a:off x="457200" y="3200400"/>
            <a:ext cx="8229600" cy="36576"/>
          </a:xfrm>
          <a:prstGeom prst="rect">
            <a:avLst/>
          </a:prstGeom>
          <a:solidFill>
            <a:srgbClr val="CADCFC">
              <a:alpha val="40000"/>
            </a:srgbClr>
          </a:solidFill>
          <a:ln/>
        </p:spPr>
      </p:sp>
      <p:sp>
        <p:nvSpPr>
          <p:cNvPr id="6" name="Text 4"/>
          <p:cNvSpPr/>
          <p:nvPr/>
        </p:nvSpPr>
        <p:spPr>
          <a:xfrm>
            <a:off x="457200" y="3429000"/>
            <a:ext cx="8229600" cy="457200"/>
          </a:xfrm>
          <a:prstGeom prst="rect">
            <a:avLst/>
          </a:prstGeom>
          <a:noFill/>
          <a:ln/>
        </p:spPr>
        <p:txBody>
          <a:bodyPr wrap="square" lIns="0" tIns="0" rIns="0" bIns="0" rtlCol="0" anchor="ctr"/>
          <a:lstStyle/>
          <a:p>
            <a:pPr indent="0" marL="0">
              <a:buNone/>
            </a:pPr>
            <a:r>
              <a:rPr lang="en-US" sz="2200" b="1" spc="200" kern="0" dirty="0">
                <a:solidFill>
                  <a:srgbClr val="CADCFC"/>
                </a:solidFill>
                <a:latin typeface="Yu Gothic" pitchFamily="34" charset="0"/>
                <a:ea typeface="Yu Gothic" pitchFamily="34" charset="-122"/>
                <a:cs typeface="Yu Gothic" pitchFamily="34" charset="-120"/>
              </a:rPr>
              <a:t>結婚前 Give&amp;Take マネジメント</a:t>
            </a:r>
            <a:endParaRPr lang="en-US" sz="2200" dirty="0"/>
          </a:p>
        </p:txBody>
      </p:sp>
      <p:sp>
        <p:nvSpPr>
          <p:cNvPr id="7" name="Text 5"/>
          <p:cNvSpPr/>
          <p:nvPr/>
        </p:nvSpPr>
        <p:spPr>
          <a:xfrm>
            <a:off x="457200" y="3931920"/>
            <a:ext cx="8229600" cy="365760"/>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仕事ではできている信頼構築を、一番大切な人との関係にも活かす。</a:t>
            </a:r>
            <a:endParaRPr lang="en-US" sz="1300" dirty="0"/>
          </a:p>
        </p:txBody>
      </p:sp>
      <p:sp>
        <p:nvSpPr>
          <p:cNvPr id="8" name="Text 6"/>
          <p:cNvSpPr/>
          <p:nvPr/>
        </p:nvSpPr>
        <p:spPr>
          <a:xfrm>
            <a:off x="457200" y="4389120"/>
            <a:ext cx="8229600" cy="320040"/>
          </a:xfrm>
          <a:prstGeom prst="rect">
            <a:avLst/>
          </a:prstGeom>
          <a:noFill/>
          <a:ln/>
        </p:spPr>
        <p:txBody>
          <a:bodyPr wrap="square" lIns="0" tIns="0" rIns="0" bIns="0" rtlCol="0" anchor="ctr"/>
          <a:lstStyle/>
          <a:p>
            <a:pPr indent="0" marL="0">
              <a:buNone/>
            </a:pPr>
            <a:r>
              <a:rPr lang="en-US" sz="1000" i="1" spc="200" kern="0" dirty="0">
                <a:solidFill>
                  <a:srgbClr val="CADCFC"/>
                </a:solidFill>
                <a:latin typeface="Yu Gothic" pitchFamily="34" charset="0"/>
                <a:ea typeface="Yu Gothic" pitchFamily="34" charset="-122"/>
                <a:cs typeface="Yu Gothic" pitchFamily="34" charset="-120"/>
              </a:rPr>
              <a:t>Pre-Marriage Relationship Design Consulting for Male Executives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結婚前 Give&amp;Take マネジメント</dc:title>
  <dc:subject>PptxGenJS Presentation</dc:subject>
  <dc:creator>Give&amp;Take Management</dc:creator>
  <cp:lastModifiedBy>Give&amp;Take Management</cp:lastModifiedBy>
  <cp:revision>1</cp:revision>
  <dcterms:created xsi:type="dcterms:W3CDTF">2026-04-25T07:06:43Z</dcterms:created>
  <dcterms:modified xsi:type="dcterms:W3CDTF">2026-04-25T07:06:43Z</dcterms:modified>
</cp:coreProperties>
</file>